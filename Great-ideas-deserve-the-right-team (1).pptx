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true" autoCompressPictures="0" embedTrueTypeFonts="true">
  <p:sldMasterIdLst>
    <p:sldMasterId id="2147483648" r:id="rId1"/>
  </p:sldMasterIdLst>
  <p:sldIdLst>
    <p:sldId id="256" r:id="rId2"/>
    <p:sldId id="257" r:id="rId3"/>
    <p:sldId id="258" r:id="rId4"/>
    <p:sldId id="259" r:id="rId5"/>
    <p:sldId id="260" r:id="rId6"/>
    <p:sldId id="261" r:id="rId7"/>
  </p:sldIdLst>
  <p:notesMasterIdLst>
    <p:notesMasterId r:id="rId8"/>
  </p:notesMasterIdLst>
  <p:sldSz cx="12191695" cy="6858000"/>
  <p:notesSz cx="6858000" cy="12191695"/>
  <p:embeddedFontLst>
    <p:embeddedFont>
      <p:font typeface="Barlow Light"/>
      <p:regular r:id="rId201314"/>
    </p:embeddedFont>
    <p:embeddedFont>
      <p:font typeface="Heebo Light"/>
      <p:regular r:id="rId201315"/>
    </p:embeddedFont>
    <p:embeddedFont>
      <p:font typeface="Heebo Medium"/>
      <p:regular r:id="rId201316"/>
    </p:embeddedFont>
    <p:embeddedFont>
      <p:font typeface="Heebo SemiBold"/>
      <p:regular r:id="rId201317"/>
    </p:embeddedFont>
    <p:embeddedFont>
      <p:font typeface="Heebo Bold"/>
      <p:regular r:id="rId201318"/>
    </p:embeddedFont>
    <p:embeddedFont>
      <p:font typeface="Montserrat SemiBold"/>
      <p:regular r:id="rId201319"/>
    </p:embeddedFont>
    <p:embeddedFont>
      <p:font typeface="Montserrat Medium"/>
      <p:regular r:id="rId201320"/>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 Id="rId201314" Target="fonts/201314.fntdata" Type="http://schemas.openxmlformats.org/officeDocument/2006/relationships/font"/><Relationship Id="rId201315" Target="fonts/201315.fntdata" Type="http://schemas.openxmlformats.org/officeDocument/2006/relationships/font"/><Relationship Id="rId201316" Target="fonts/201316.fntdata" Type="http://schemas.openxmlformats.org/officeDocument/2006/relationships/font"/><Relationship Id="rId201317" Target="fonts/201317.fntdata" Type="http://schemas.openxmlformats.org/officeDocument/2006/relationships/font"/><Relationship Id="rId201318" Target="fonts/201318.fntdata" Type="http://schemas.openxmlformats.org/officeDocument/2006/relationships/font"/><Relationship Id="rId201319" Target="fonts/201319.fntdata" Type="http://schemas.openxmlformats.org/officeDocument/2006/relationships/font"/><Relationship Id="rId201320" Target="fonts/201320.fntdata" Type="http://schemas.openxmlformats.org/officeDocument/2006/relationships/font"/></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Innov8x is our proposed student skill and project team matcher. The concept connects project needs with complementary student profiles. We want students to spend more time building and less time searching.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dashboard is a concept, not an operational product screenshot. No compatibility scores have been measured or supplied. The intended flow moves from a project brief to recommendations that students review themselves.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intended architecture, not a verified implementation. Structured matching and AI explanation have separate jobs: Python would evaluate compatibility; Gemma 4 would help students understand the recommendation.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an illustrative team, not a real matching result. Innov8x helps students see who could contribute, how they might contribute, and what the team may still need. Even with technical coverage, agricultural domain expertise remains a potential gap.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framework and public repository URL still need confirmation. The square is a QR placeholder, not a scannable code. Technology is proposed, impact is expected, and future features are scope rather than delivered capabilities.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2-1.png"/><Relationship Id="rId3"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bg>
      <p:bgPr>
        <a:solidFill>
          <a:srgbClr val="0D0A2C"/>
        </a:solidFill>
      </p:bgPr>
    </p:bg>
    <p:spTree>
      <p:nvGrpSpPr>
        <p:cNvPr id="1" name=""/>
        <p:cNvGrpSpPr/>
        <p:nvPr/>
      </p:nvGrpSpPr>
      <p:grpSpPr>
        <a:xfrm>
          <a:off x="0" y="0"/>
          <a:ext cx="0" cy="0"/>
          <a:chOff x="0" y="0"/>
          <a:chExt cx="0" cy="0"/>
        </a:xfrm>
      </p:grpSpPr>
      <p:pic>
        <p:nvPicPr>
          <p:cNvPr id="2" name="Image 0" descr="preencoded.png">
            <a:hlinkClick r:id="rId2" tooltip=""/>
          </p:cNvPr>
          <p:cNvPicPr>
            <a:picLocks noChangeAspect="1"/>
          </p:cNvPicPr>
          <p:nvPr/>
        </p:nvPicPr>
        <p:blipFill>
          <a:blip r:embed="rId1"/>
          <a:stretch>
            <a:fillRect/>
          </a:stretch>
        </p:blipFill>
        <p:spPr>
          <a:xfrm>
            <a:off x="11076875" y="6558991"/>
            <a:ext cx="1071843" cy="256032"/>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image" Target="../media/image-2-7.png"/><Relationship Id="rId8" Type="http://schemas.openxmlformats.org/officeDocument/2006/relationships/image" Target="../media/image-2-8.png"/><Relationship Id="rId9" Type="http://schemas.openxmlformats.org/officeDocument/2006/relationships/image" Target="../media/image-2-9.png"/><Relationship Id="rId10" Type="http://schemas.openxmlformats.org/officeDocument/2006/relationships/slideLayout" Target="../slideLayouts/slideLayout2.xml"/><Relationship Id="rId11"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hyperlink" Target="https://github.com/rahulchauhan7766872835-lgtm/Hackiit9/tree/main" TargetMode="External"/><Relationship Id="rId2" Type="http://schemas.openxmlformats.org/officeDocument/2006/relationships/image" Target="../media/image-6-1.png"/><Relationship Id="rId3" Type="http://schemas.openxmlformats.org/officeDocument/2006/relationships/slideLayout" Target="../slideLayouts/slideLayout2.xml"/><Relationship Id="rId4"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711182" y="611505"/>
            <a:ext cx="6603835" cy="182860"/>
          </a:xfrm>
          <a:prstGeom prst="rect">
            <a:avLst/>
          </a:prstGeom>
          <a:noFill/>
          <a:ln/>
        </p:spPr>
        <p:txBody>
          <a:bodyPr wrap="none" lIns="0" tIns="0" rIns="0" bIns="0" rtlCol="0" anchor="t"/>
          <a:lstStyle/>
          <a:p>
            <a:pPr algn="l" indent="0" marL="0">
              <a:lnSpc>
                <a:spcPct val="100000"/>
              </a:lnSpc>
              <a:buNone/>
            </a:pPr>
            <a:r>
              <a:rPr lang="en-US" sz="1200" spc="96" kern="100" dirty="0">
                <a:solidFill>
                  <a:srgbClr val="B6ACCB"/>
                </a:solidFill>
                <a:latin typeface="Heebo Medium" pitchFamily="34" charset="0"/>
                <a:ea typeface="Heebo Medium" pitchFamily="34" charset="-122"/>
                <a:cs typeface="Heebo Medium" pitchFamily="34" charset="-120"/>
              </a:rPr>
              <a:t>HACKTOBERFEST × IIT BHILAI</a:t>
            </a:r>
            <a:endParaRPr lang="en-US" sz="1200" dirty="0"/>
          </a:p>
        </p:txBody>
      </p:sp>
      <p:sp>
        <p:nvSpPr>
          <p:cNvPr id="3" name="Text 1"/>
          <p:cNvSpPr/>
          <p:nvPr/>
        </p:nvSpPr>
        <p:spPr>
          <a:xfrm>
            <a:off x="711182" y="983913"/>
            <a:ext cx="6299042" cy="853380"/>
          </a:xfrm>
          <a:prstGeom prst="rect">
            <a:avLst/>
          </a:prstGeom>
          <a:noFill/>
          <a:ln/>
        </p:spPr>
        <p:txBody>
          <a:bodyPr wrap="none" lIns="0" tIns="0" rIns="0" bIns="0" rtlCol="0" anchor="t"/>
          <a:lstStyle/>
          <a:p>
            <a:pPr algn="l" indent="0" marL="0">
              <a:lnSpc>
                <a:spcPct val="80000"/>
              </a:lnSpc>
              <a:buNone/>
            </a:pPr>
            <a:r>
              <a:rPr lang="en-US" sz="7000" spc="-245" kern="100" dirty="0">
                <a:solidFill>
                  <a:srgbClr val="D84CFF"/>
                </a:solidFill>
                <a:latin typeface="Montserrat SemiBold" pitchFamily="34" charset="0"/>
                <a:ea typeface="Montserrat SemiBold" pitchFamily="34" charset="-122"/>
                <a:cs typeface="Montserrat SemiBold" pitchFamily="34" charset="-120"/>
              </a:rPr>
              <a:t>Innov8x</a:t>
            </a:r>
            <a:endParaRPr lang="en-US" sz="7000" dirty="0"/>
          </a:p>
        </p:txBody>
      </p:sp>
      <p:sp>
        <p:nvSpPr>
          <p:cNvPr id="4" name="Text 2"/>
          <p:cNvSpPr/>
          <p:nvPr/>
        </p:nvSpPr>
        <p:spPr>
          <a:xfrm>
            <a:off x="711182" y="1955186"/>
            <a:ext cx="6299042" cy="969169"/>
          </a:xfrm>
          <a:prstGeom prst="rect">
            <a:avLst/>
          </a:prstGeom>
          <a:noFill/>
          <a:ln/>
        </p:spPr>
        <p:txBody>
          <a:bodyPr wrap="square" lIns="0" tIns="0" rIns="0" bIns="0" rtlCol="0" anchor="t">
            <a:normAutofit/>
          </a:bodyPr>
          <a:lstStyle/>
          <a:p>
            <a:pPr algn="l" indent="0" marL="0">
              <a:lnSpc>
                <a:spcPct val="88000"/>
              </a:lnSpc>
              <a:buNone/>
            </a:pPr>
            <a:r>
              <a:rPr lang="en-US" sz="3600" spc="-90" kern="100" dirty="0">
                <a:solidFill>
                  <a:srgbClr val="F2F0F4"/>
                </a:solidFill>
                <a:latin typeface="Montserrat SemiBold" pitchFamily="34" charset="0"/>
                <a:ea typeface="Montserrat SemiBold" pitchFamily="34" charset="-122"/>
                <a:cs typeface="Montserrat SemiBold" pitchFamily="34" charset="-120"/>
              </a:rPr>
              <a:t>Great ideas deserve the right team.</a:t>
            </a:r>
            <a:endParaRPr lang="en-US" sz="3600" dirty="0"/>
          </a:p>
        </p:txBody>
      </p:sp>
      <p:sp>
        <p:nvSpPr>
          <p:cNvPr id="5" name="Text 3"/>
          <p:cNvSpPr/>
          <p:nvPr/>
        </p:nvSpPr>
        <p:spPr>
          <a:xfrm>
            <a:off x="711182" y="3085862"/>
            <a:ext cx="6299042" cy="345380"/>
          </a:xfrm>
          <a:prstGeom prst="rect">
            <a:avLst/>
          </a:prstGeom>
          <a:noFill/>
          <a:ln/>
        </p:spPr>
        <p:txBody>
          <a:bodyPr wrap="none" lIns="0" tIns="0" rIns="0" bIns="0" rtlCol="0" anchor="t"/>
          <a:lstStyle/>
          <a:p>
            <a:pPr algn="l" indent="0" marL="0">
              <a:lnSpc>
                <a:spcPct val="113000"/>
              </a:lnSpc>
              <a:buNone/>
            </a:pPr>
            <a:r>
              <a:rPr lang="en-US" sz="2000" spc="-50" kern="100" dirty="0">
                <a:solidFill>
                  <a:srgbClr val="DCD7E5"/>
                </a:solidFill>
                <a:latin typeface="Montserrat Medium" pitchFamily="34" charset="0"/>
                <a:ea typeface="Montserrat Medium" pitchFamily="34" charset="-122"/>
                <a:cs typeface="Montserrat Medium" pitchFamily="34" charset="-120"/>
              </a:rPr>
              <a:t>Find your people. Build something meaningful.</a:t>
            </a:r>
            <a:endParaRPr lang="en-US" sz="2000" dirty="0"/>
          </a:p>
        </p:txBody>
      </p:sp>
      <p:sp>
        <p:nvSpPr>
          <p:cNvPr id="6" name="Text 4"/>
          <p:cNvSpPr/>
          <p:nvPr/>
        </p:nvSpPr>
        <p:spPr>
          <a:xfrm>
            <a:off x="711182" y="3579515"/>
            <a:ext cx="6603835" cy="302220"/>
          </a:xfrm>
          <a:prstGeom prst="rect">
            <a:avLst/>
          </a:prstGeom>
          <a:noFill/>
          <a:ln/>
        </p:spPr>
        <p:txBody>
          <a:bodyPr wrap="none" lIns="0" tIns="0" rIns="0" bIns="0" rtlCol="0" anchor="t"/>
          <a:lstStyle/>
          <a:p>
            <a:pPr algn="l" indent="0" marL="0">
              <a:lnSpc>
                <a:spcPct val="117000"/>
              </a:lnSpc>
              <a:buNone/>
            </a:pPr>
            <a:r>
              <a:rPr lang="en-US" sz="1700" dirty="0">
                <a:solidFill>
                  <a:srgbClr val="DCD7E5"/>
                </a:solidFill>
                <a:latin typeface="Heebo Light" pitchFamily="34" charset="0"/>
                <a:ea typeface="Heebo Light" pitchFamily="34" charset="-122"/>
                <a:cs typeface="Heebo Light" pitchFamily="34" charset="-120"/>
              </a:rPr>
              <a:t>AI-Powered Student Skill &amp; Project Team Matcher</a:t>
            </a:r>
            <a:endParaRPr lang="en-US" sz="1700" dirty="0"/>
          </a:p>
        </p:txBody>
      </p:sp>
      <p:sp>
        <p:nvSpPr>
          <p:cNvPr id="7" name="Text 5"/>
          <p:cNvSpPr/>
          <p:nvPr/>
        </p:nvSpPr>
        <p:spPr>
          <a:xfrm>
            <a:off x="711182" y="5306120"/>
            <a:ext cx="6299042" cy="1043880"/>
          </a:xfrm>
          <a:prstGeom prst="rect">
            <a:avLst/>
          </a:prstGeom>
          <a:noFill/>
          <a:ln/>
        </p:spPr>
        <p:txBody>
          <a:bodyPr wrap="square" lIns="0" tIns="0" rIns="0" bIns="0" rtlCol="0" anchor="t"/>
          <a:lstStyle/>
          <a:p>
            <a:pPr algn="l" indent="0" marL="0">
              <a:lnSpc>
                <a:spcPct val="117000"/>
              </a:lnSpc>
              <a:spcAft>
                <a:spcPts val="1450"/>
              </a:spcAft>
              <a:buNone/>
            </a:pPr>
            <a:r>
              <a:rPr lang="en-US" sz="1600" dirty="0">
                <a:solidFill>
                  <a:srgbClr val="DCD7E5"/>
                </a:solidFill>
                <a:latin typeface="Barlow Light" pitchFamily="34" charset="0"/>
                <a:ea typeface="Barlow Light" pitchFamily="34" charset="-122"/>
                <a:cs typeface="Barlow Light" pitchFamily="34" charset="-120"/>
              </a:rPr>
              <a:t>Team Leader: Rahul Kumar</a:t>
            </a:r>
            <a:endParaRPr lang="en-US" sz="1600" dirty="0"/>
          </a:p>
          <a:p>
            <a:pPr algn="l" indent="0" marL="0">
              <a:lnSpc>
                <a:spcPct val="117000"/>
              </a:lnSpc>
              <a:buNone/>
            </a:pPr>
            <a:r>
              <a:rPr lang="en-US" sz="1600" dirty="0">
                <a:solidFill>
                  <a:srgbClr val="DCD7E5"/>
                </a:solidFill>
                <a:latin typeface="Barlow Light" pitchFamily="34" charset="0"/>
                <a:ea typeface="Barlow Light" pitchFamily="34" charset="-122"/>
                <a:cs typeface="Barlow Light" pitchFamily="34" charset="-120"/>
              </a:rPr>
              <a:t>Team Members: Sumit Kumar · Deewakar Kumar · Rekyson Singh · Raghav Chouhan</a:t>
            </a:r>
            <a:endParaRPr lang="en-US" sz="1600" dirty="0"/>
          </a:p>
        </p:txBody>
      </p:sp>
      <p:sp>
        <p:nvSpPr>
          <p:cNvPr id="8" name="Text 6"/>
          <p:cNvSpPr/>
          <p:nvPr/>
        </p:nvSpPr>
        <p:spPr>
          <a:xfrm>
            <a:off x="7619809" y="1035467"/>
            <a:ext cx="4571886" cy="182860"/>
          </a:xfrm>
          <a:prstGeom prst="rect">
            <a:avLst/>
          </a:prstGeom>
          <a:noFill/>
          <a:ln/>
        </p:spPr>
        <p:txBody>
          <a:bodyPr wrap="none" lIns="0" tIns="0" rIns="0" bIns="0" rtlCol="0" anchor="t"/>
          <a:lstStyle/>
          <a:p>
            <a:pPr algn="l" indent="0" marL="0">
              <a:lnSpc>
                <a:spcPct val="100000"/>
              </a:lnSpc>
              <a:buNone/>
            </a:pPr>
            <a:r>
              <a:rPr lang="en-US" sz="1200" spc="96" kern="100" dirty="0">
                <a:solidFill>
                  <a:srgbClr val="B6ACCB"/>
                </a:solidFill>
                <a:latin typeface="Heebo Medium" pitchFamily="34" charset="0"/>
                <a:ea typeface="Heebo Medium" pitchFamily="34" charset="-122"/>
                <a:cs typeface="Heebo Medium" pitchFamily="34" charset="-120"/>
              </a:rPr>
              <a:t>CONCEPT MOCKUP</a:t>
            </a:r>
            <a:endParaRPr lang="en-US" sz="1200" dirty="0"/>
          </a:p>
        </p:txBody>
      </p:sp>
      <p:pic>
        <p:nvPicPr>
          <p:cNvPr id="9" name="Image 0" descr="preencoded.png">    </p:cNvPr>
          <p:cNvPicPr>
            <a:picLocks noChangeAspect="1"/>
          </p:cNvPicPr>
          <p:nvPr/>
        </p:nvPicPr>
        <p:blipFill>
          <a:blip r:embed="rId1"/>
          <a:stretch>
            <a:fillRect/>
          </a:stretch>
        </p:blipFill>
        <p:spPr>
          <a:xfrm>
            <a:off x="7619809" y="1406922"/>
            <a:ext cx="4114697" cy="4519017"/>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711182" y="387541"/>
            <a:ext cx="10769331" cy="915392"/>
          </a:xfrm>
          <a:prstGeom prst="rect">
            <a:avLst/>
          </a:prstGeom>
          <a:noFill/>
          <a:ln/>
        </p:spPr>
        <p:txBody>
          <a:bodyPr wrap="square" lIns="0" tIns="0" rIns="0" bIns="0" rtlCol="0" anchor="t">
            <a:normAutofit/>
          </a:bodyPr>
          <a:lstStyle/>
          <a:p>
            <a:pPr algn="l" indent="0" marL="0">
              <a:lnSpc>
                <a:spcPct val="88000"/>
              </a:lnSpc>
              <a:buNone/>
            </a:pPr>
            <a:r>
              <a:rPr lang="en-US" sz="3400" spc="-85" kern="100" dirty="0">
                <a:solidFill>
                  <a:srgbClr val="F2F0F4"/>
                </a:solidFill>
                <a:latin typeface="Montserrat SemiBold" pitchFamily="34" charset="0"/>
                <a:ea typeface="Montserrat SemiBold" pitchFamily="34" charset="-122"/>
                <a:cs typeface="Montserrat SemiBold" pitchFamily="34" charset="-120"/>
              </a:rPr>
              <a:t>Finding teammates shouldn't be harder than building the project.</a:t>
            </a:r>
            <a:endParaRPr lang="en-US" sz="3400" dirty="0"/>
          </a:p>
        </p:txBody>
      </p:sp>
      <p:pic>
        <p:nvPicPr>
          <p:cNvPr id="3" name="Image 0" descr="preencoded.png">    </p:cNvPr>
          <p:cNvPicPr>
            <a:picLocks noChangeAspect="1"/>
          </p:cNvPicPr>
          <p:nvPr/>
        </p:nvPicPr>
        <p:blipFill>
          <a:blip r:embed="rId1"/>
          <a:stretch>
            <a:fillRect/>
          </a:stretch>
        </p:blipFill>
        <p:spPr>
          <a:xfrm>
            <a:off x="711182" y="1483717"/>
            <a:ext cx="5232269" cy="1567557"/>
          </a:xfrm>
          <a:prstGeom prst="rect">
            <a:avLst/>
          </a:prstGeom>
        </p:spPr>
      </p:pic>
      <p:pic>
        <p:nvPicPr>
          <p:cNvPr id="4" name="Image 1" descr="preencoded.png">    </p:cNvPr>
          <p:cNvPicPr>
            <a:picLocks noChangeAspect="1"/>
          </p:cNvPicPr>
          <p:nvPr/>
        </p:nvPicPr>
        <p:blipFill>
          <a:blip r:embed="rId2"/>
          <a:stretch>
            <a:fillRect/>
          </a:stretch>
        </p:blipFill>
        <p:spPr>
          <a:xfrm>
            <a:off x="952476" y="1725021"/>
            <a:ext cx="431789" cy="431800"/>
          </a:xfrm>
          <a:prstGeom prst="rect">
            <a:avLst/>
          </a:prstGeom>
        </p:spPr>
      </p:pic>
      <p:sp>
        <p:nvSpPr>
          <p:cNvPr id="5" name="Text 1"/>
          <p:cNvSpPr/>
          <p:nvPr/>
        </p:nvSpPr>
        <p:spPr>
          <a:xfrm>
            <a:off x="1600160" y="1733463"/>
            <a:ext cx="4101997" cy="328116"/>
          </a:xfrm>
          <a:prstGeom prst="rect">
            <a:avLst/>
          </a:prstGeom>
          <a:noFill/>
          <a:ln/>
        </p:spPr>
        <p:txBody>
          <a:bodyPr wrap="none" lIns="0" tIns="0" rIns="0" bIns="0" rtlCol="0" anchor="t"/>
          <a:lstStyle/>
          <a:p>
            <a:pPr algn="l" indent="0" marL="0">
              <a:lnSpc>
                <a:spcPct val="113000"/>
              </a:lnSpc>
              <a:buNone/>
            </a:pPr>
            <a:r>
              <a:rPr lang="en-US" sz="1900" spc="-47" kern="100" dirty="0">
                <a:solidFill>
                  <a:srgbClr val="DCD7E5"/>
                </a:solidFill>
                <a:latin typeface="Montserrat Medium" pitchFamily="34" charset="0"/>
                <a:ea typeface="Montserrat Medium" pitchFamily="34" charset="-122"/>
                <a:cs typeface="Montserrat Medium" pitchFamily="34" charset="-120"/>
              </a:rPr>
              <a:t>Finding the Right People</a:t>
            </a:r>
            <a:endParaRPr lang="en-US" sz="1900" dirty="0"/>
          </a:p>
        </p:txBody>
      </p:sp>
      <p:sp>
        <p:nvSpPr>
          <p:cNvPr id="6" name="Text 2"/>
          <p:cNvSpPr/>
          <p:nvPr/>
        </p:nvSpPr>
        <p:spPr>
          <a:xfrm>
            <a:off x="1600160" y="2205534"/>
            <a:ext cx="4101997" cy="604441"/>
          </a:xfrm>
          <a:prstGeom prst="rect">
            <a:avLst/>
          </a:prstGeom>
          <a:noFill/>
          <a:ln/>
        </p:spPr>
        <p:txBody>
          <a:bodyPr wrap="square" lIns="0" tIns="0" rIns="0" bIns="0" rtlCol="0" anchor="t">
            <a:normAutofit/>
          </a:bodyPr>
          <a:lstStyle/>
          <a:p>
            <a:pPr algn="l" indent="0" marL="0">
              <a:lnSpc>
                <a:spcPct val="117000"/>
              </a:lnSpc>
              <a:buNone/>
            </a:pPr>
            <a:r>
              <a:rPr lang="en-US" sz="1700" dirty="0">
                <a:solidFill>
                  <a:srgbClr val="DCD7E5"/>
                </a:solidFill>
                <a:latin typeface="Heebo Light" pitchFamily="34" charset="0"/>
                <a:ea typeface="Heebo Light" pitchFamily="34" charset="-122"/>
                <a:cs typeface="Heebo Light" pitchFamily="34" charset="-120"/>
              </a:rPr>
              <a:t>Collaborators outside existing friend circles are hard to discover.</a:t>
            </a:r>
            <a:endParaRPr lang="en-US" sz="1700" dirty="0"/>
          </a:p>
        </p:txBody>
      </p:sp>
      <p:pic>
        <p:nvPicPr>
          <p:cNvPr id="7" name="Image 2" descr="preencoded.png">    </p:cNvPr>
          <p:cNvPicPr>
            <a:picLocks noChangeAspect="1"/>
          </p:cNvPicPr>
          <p:nvPr/>
        </p:nvPicPr>
        <p:blipFill>
          <a:blip r:embed="rId3"/>
          <a:stretch>
            <a:fillRect/>
          </a:stretch>
        </p:blipFill>
        <p:spPr>
          <a:xfrm>
            <a:off x="6248244" y="1483717"/>
            <a:ext cx="5232269" cy="1567557"/>
          </a:xfrm>
          <a:prstGeom prst="rect">
            <a:avLst/>
          </a:prstGeom>
        </p:spPr>
      </p:pic>
      <p:pic>
        <p:nvPicPr>
          <p:cNvPr id="8" name="Image 3" descr="preencoded.png">    </p:cNvPr>
          <p:cNvPicPr>
            <a:picLocks noChangeAspect="1"/>
          </p:cNvPicPr>
          <p:nvPr/>
        </p:nvPicPr>
        <p:blipFill>
          <a:blip r:embed="rId4"/>
          <a:stretch>
            <a:fillRect/>
          </a:stretch>
        </p:blipFill>
        <p:spPr>
          <a:xfrm>
            <a:off x="6489538" y="1725021"/>
            <a:ext cx="431789" cy="431800"/>
          </a:xfrm>
          <a:prstGeom prst="rect">
            <a:avLst/>
          </a:prstGeom>
        </p:spPr>
      </p:pic>
      <p:sp>
        <p:nvSpPr>
          <p:cNvPr id="9" name="Text 3"/>
          <p:cNvSpPr/>
          <p:nvPr/>
        </p:nvSpPr>
        <p:spPr>
          <a:xfrm>
            <a:off x="7137221" y="1733463"/>
            <a:ext cx="4101997" cy="328116"/>
          </a:xfrm>
          <a:prstGeom prst="rect">
            <a:avLst/>
          </a:prstGeom>
          <a:noFill/>
          <a:ln/>
        </p:spPr>
        <p:txBody>
          <a:bodyPr wrap="none" lIns="0" tIns="0" rIns="0" bIns="0" rtlCol="0" anchor="t"/>
          <a:lstStyle/>
          <a:p>
            <a:pPr algn="l" indent="0" marL="0">
              <a:lnSpc>
                <a:spcPct val="113000"/>
              </a:lnSpc>
              <a:buNone/>
            </a:pPr>
            <a:r>
              <a:rPr lang="en-US" sz="1900" spc="-47" kern="100" dirty="0">
                <a:solidFill>
                  <a:srgbClr val="DCD7E5"/>
                </a:solidFill>
                <a:latin typeface="Montserrat Medium" pitchFamily="34" charset="0"/>
                <a:ea typeface="Montserrat Medium" pitchFamily="34" charset="-122"/>
                <a:cs typeface="Montserrat Medium" pitchFamily="34" charset="-120"/>
              </a:rPr>
              <a:t>Skill Mismatch</a:t>
            </a:r>
            <a:endParaRPr lang="en-US" sz="1900" dirty="0"/>
          </a:p>
        </p:txBody>
      </p:sp>
      <p:sp>
        <p:nvSpPr>
          <p:cNvPr id="10" name="Text 4"/>
          <p:cNvSpPr/>
          <p:nvPr/>
        </p:nvSpPr>
        <p:spPr>
          <a:xfrm>
            <a:off x="7137221" y="2205534"/>
            <a:ext cx="4101997" cy="604441"/>
          </a:xfrm>
          <a:prstGeom prst="rect">
            <a:avLst/>
          </a:prstGeom>
          <a:noFill/>
          <a:ln/>
        </p:spPr>
        <p:txBody>
          <a:bodyPr wrap="square" lIns="0" tIns="0" rIns="0" bIns="0" rtlCol="0" anchor="t">
            <a:normAutofit/>
          </a:bodyPr>
          <a:lstStyle/>
          <a:p>
            <a:pPr algn="l" indent="0" marL="0">
              <a:lnSpc>
                <a:spcPct val="117000"/>
              </a:lnSpc>
              <a:buNone/>
            </a:pPr>
            <a:r>
              <a:rPr lang="en-US" sz="1700" dirty="0">
                <a:solidFill>
                  <a:srgbClr val="DCD7E5"/>
                </a:solidFill>
                <a:latin typeface="Heebo Light" pitchFamily="34" charset="0"/>
                <a:ea typeface="Heebo Light" pitchFamily="34" charset="-122"/>
                <a:cs typeface="Heebo Light" pitchFamily="34" charset="-120"/>
              </a:rPr>
              <a:t>Teams can lack essential technical or creative skills.</a:t>
            </a:r>
            <a:endParaRPr lang="en-US" sz="1700" dirty="0"/>
          </a:p>
        </p:txBody>
      </p:sp>
      <p:pic>
        <p:nvPicPr>
          <p:cNvPr id="11" name="Image 4" descr="preencoded.png">    </p:cNvPr>
          <p:cNvPicPr>
            <a:picLocks noChangeAspect="1"/>
          </p:cNvPicPr>
          <p:nvPr/>
        </p:nvPicPr>
        <p:blipFill>
          <a:blip r:embed="rId5"/>
          <a:stretch>
            <a:fillRect/>
          </a:stretch>
        </p:blipFill>
        <p:spPr>
          <a:xfrm>
            <a:off x="711182" y="3356074"/>
            <a:ext cx="5232269" cy="1567557"/>
          </a:xfrm>
          <a:prstGeom prst="rect">
            <a:avLst/>
          </a:prstGeom>
        </p:spPr>
      </p:pic>
      <p:pic>
        <p:nvPicPr>
          <p:cNvPr id="12" name="Image 5" descr="preencoded.png">    </p:cNvPr>
          <p:cNvPicPr>
            <a:picLocks noChangeAspect="1"/>
          </p:cNvPicPr>
          <p:nvPr/>
        </p:nvPicPr>
        <p:blipFill>
          <a:blip r:embed="rId6"/>
          <a:stretch>
            <a:fillRect/>
          </a:stretch>
        </p:blipFill>
        <p:spPr>
          <a:xfrm>
            <a:off x="952476" y="3597378"/>
            <a:ext cx="431789" cy="431800"/>
          </a:xfrm>
          <a:prstGeom prst="rect">
            <a:avLst/>
          </a:prstGeom>
        </p:spPr>
      </p:pic>
      <p:sp>
        <p:nvSpPr>
          <p:cNvPr id="13" name="Text 5"/>
          <p:cNvSpPr/>
          <p:nvPr/>
        </p:nvSpPr>
        <p:spPr>
          <a:xfrm>
            <a:off x="1600160" y="3605820"/>
            <a:ext cx="4101997" cy="328116"/>
          </a:xfrm>
          <a:prstGeom prst="rect">
            <a:avLst/>
          </a:prstGeom>
          <a:noFill/>
          <a:ln/>
        </p:spPr>
        <p:txBody>
          <a:bodyPr wrap="none" lIns="0" tIns="0" rIns="0" bIns="0" rtlCol="0" anchor="t"/>
          <a:lstStyle/>
          <a:p>
            <a:pPr algn="l" indent="0" marL="0">
              <a:lnSpc>
                <a:spcPct val="113000"/>
              </a:lnSpc>
              <a:buNone/>
            </a:pPr>
            <a:r>
              <a:rPr lang="en-US" sz="1900" spc="-47" kern="100" dirty="0">
                <a:solidFill>
                  <a:srgbClr val="DCD7E5"/>
                </a:solidFill>
                <a:latin typeface="Montserrat Medium" pitchFamily="34" charset="0"/>
                <a:ea typeface="Montserrat Medium" pitchFamily="34" charset="-122"/>
                <a:cs typeface="Montserrat Medium" pitchFamily="34" charset="-120"/>
              </a:rPr>
              <a:t>Time Lost</a:t>
            </a:r>
            <a:endParaRPr lang="en-US" sz="1900" dirty="0"/>
          </a:p>
        </p:txBody>
      </p:sp>
      <p:sp>
        <p:nvSpPr>
          <p:cNvPr id="14" name="Text 6"/>
          <p:cNvSpPr/>
          <p:nvPr/>
        </p:nvSpPr>
        <p:spPr>
          <a:xfrm>
            <a:off x="1600160" y="4077891"/>
            <a:ext cx="4343291" cy="302220"/>
          </a:xfrm>
          <a:prstGeom prst="rect">
            <a:avLst/>
          </a:prstGeom>
          <a:noFill/>
          <a:ln/>
        </p:spPr>
        <p:txBody>
          <a:bodyPr wrap="none" lIns="0" tIns="0" rIns="0" bIns="0" rtlCol="0" anchor="t"/>
          <a:lstStyle/>
          <a:p>
            <a:pPr algn="l" indent="0" marL="0">
              <a:lnSpc>
                <a:spcPct val="117000"/>
              </a:lnSpc>
              <a:buNone/>
            </a:pPr>
            <a:r>
              <a:rPr lang="en-US" sz="1700" dirty="0">
                <a:solidFill>
                  <a:srgbClr val="DCD7E5"/>
                </a:solidFill>
                <a:latin typeface="Heebo Light" pitchFamily="34" charset="0"/>
                <a:ea typeface="Heebo Light" pitchFamily="34" charset="-122"/>
                <a:cs typeface="Heebo Light" pitchFamily="34" charset="-120"/>
              </a:rPr>
              <a:t>Searching takes time away from building.</a:t>
            </a:r>
            <a:endParaRPr lang="en-US" sz="1700" dirty="0"/>
          </a:p>
        </p:txBody>
      </p:sp>
      <p:pic>
        <p:nvPicPr>
          <p:cNvPr id="15" name="Image 6" descr="preencoded.png">    </p:cNvPr>
          <p:cNvPicPr>
            <a:picLocks noChangeAspect="1"/>
          </p:cNvPicPr>
          <p:nvPr/>
        </p:nvPicPr>
        <p:blipFill>
          <a:blip r:embed="rId7"/>
          <a:stretch>
            <a:fillRect/>
          </a:stretch>
        </p:blipFill>
        <p:spPr>
          <a:xfrm>
            <a:off x="6248244" y="3356074"/>
            <a:ext cx="5232269" cy="1567557"/>
          </a:xfrm>
          <a:prstGeom prst="rect">
            <a:avLst/>
          </a:prstGeom>
        </p:spPr>
      </p:pic>
      <p:pic>
        <p:nvPicPr>
          <p:cNvPr id="16" name="Image 7" descr="preencoded.png">    </p:cNvPr>
          <p:cNvPicPr>
            <a:picLocks noChangeAspect="1"/>
          </p:cNvPicPr>
          <p:nvPr/>
        </p:nvPicPr>
        <p:blipFill>
          <a:blip r:embed="rId8"/>
          <a:stretch>
            <a:fillRect/>
          </a:stretch>
        </p:blipFill>
        <p:spPr>
          <a:xfrm>
            <a:off x="6489538" y="3597378"/>
            <a:ext cx="431789" cy="431800"/>
          </a:xfrm>
          <a:prstGeom prst="rect">
            <a:avLst/>
          </a:prstGeom>
        </p:spPr>
      </p:pic>
      <p:sp>
        <p:nvSpPr>
          <p:cNvPr id="17" name="Text 7"/>
          <p:cNvSpPr/>
          <p:nvPr/>
        </p:nvSpPr>
        <p:spPr>
          <a:xfrm>
            <a:off x="7137221" y="3605820"/>
            <a:ext cx="4101997" cy="328116"/>
          </a:xfrm>
          <a:prstGeom prst="rect">
            <a:avLst/>
          </a:prstGeom>
          <a:noFill/>
          <a:ln/>
        </p:spPr>
        <p:txBody>
          <a:bodyPr wrap="none" lIns="0" tIns="0" rIns="0" bIns="0" rtlCol="0" anchor="t"/>
          <a:lstStyle/>
          <a:p>
            <a:pPr algn="l" indent="0" marL="0">
              <a:lnSpc>
                <a:spcPct val="113000"/>
              </a:lnSpc>
              <a:buNone/>
            </a:pPr>
            <a:r>
              <a:rPr lang="en-US" sz="1900" spc="-47" kern="100" dirty="0">
                <a:solidFill>
                  <a:srgbClr val="DCD7E5"/>
                </a:solidFill>
                <a:latin typeface="Montserrat Medium" pitchFamily="34" charset="0"/>
                <a:ea typeface="Montserrat Medium" pitchFamily="34" charset="-122"/>
                <a:cs typeface="Montserrat Medium" pitchFamily="34" charset="-120"/>
              </a:rPr>
              <a:t>Limited Collaboration</a:t>
            </a:r>
            <a:endParaRPr lang="en-US" sz="1900" dirty="0"/>
          </a:p>
        </p:txBody>
      </p:sp>
      <p:sp>
        <p:nvSpPr>
          <p:cNvPr id="18" name="Text 8"/>
          <p:cNvSpPr/>
          <p:nvPr/>
        </p:nvSpPr>
        <p:spPr>
          <a:xfrm>
            <a:off x="7137221" y="4077891"/>
            <a:ext cx="4101997" cy="604441"/>
          </a:xfrm>
          <a:prstGeom prst="rect">
            <a:avLst/>
          </a:prstGeom>
          <a:noFill/>
          <a:ln/>
        </p:spPr>
        <p:txBody>
          <a:bodyPr wrap="square" lIns="0" tIns="0" rIns="0" bIns="0" rtlCol="0" anchor="t">
            <a:normAutofit/>
          </a:bodyPr>
          <a:lstStyle/>
          <a:p>
            <a:pPr algn="l" indent="0" marL="0">
              <a:lnSpc>
                <a:spcPct val="117000"/>
              </a:lnSpc>
              <a:buNone/>
            </a:pPr>
            <a:r>
              <a:rPr lang="en-US" sz="1700" dirty="0">
                <a:solidFill>
                  <a:srgbClr val="DCD7E5"/>
                </a:solidFill>
                <a:latin typeface="Heebo Light" pitchFamily="34" charset="0"/>
                <a:ea typeface="Heebo Light" pitchFamily="34" charset="-122"/>
                <a:cs typeface="Heebo Light" pitchFamily="34" charset="-120"/>
              </a:rPr>
              <a:t>Talent remains undiscovered across classes and departments.</a:t>
            </a:r>
            <a:endParaRPr lang="en-US" sz="1700" dirty="0"/>
          </a:p>
        </p:txBody>
      </p:sp>
      <p:pic>
        <p:nvPicPr>
          <p:cNvPr id="19" name="Image 8" descr="preencoded.png">    </p:cNvPr>
          <p:cNvPicPr>
            <a:picLocks noChangeAspect="1"/>
          </p:cNvPicPr>
          <p:nvPr/>
        </p:nvPicPr>
        <p:blipFill>
          <a:blip r:embed="rId9"/>
          <a:stretch>
            <a:fillRect/>
          </a:stretch>
        </p:blipFill>
        <p:spPr>
          <a:xfrm>
            <a:off x="711182" y="5114131"/>
            <a:ext cx="10769331" cy="724892"/>
          </a:xfrm>
          <a:prstGeom prst="rect">
            <a:avLst/>
          </a:prstGeom>
        </p:spPr>
      </p:pic>
      <p:sp>
        <p:nvSpPr>
          <p:cNvPr id="20" name="Text 9"/>
          <p:cNvSpPr/>
          <p:nvPr/>
        </p:nvSpPr>
        <p:spPr>
          <a:xfrm>
            <a:off x="711182" y="6029523"/>
            <a:ext cx="11378915" cy="355600"/>
          </a:xfrm>
          <a:prstGeom prst="rect">
            <a:avLst/>
          </a:prstGeom>
          <a:noFill/>
          <a:ln/>
        </p:spPr>
        <p:txBody>
          <a:bodyPr wrap="none" lIns="0" tIns="0" rIns="0" bIns="0" rtlCol="0" anchor="t"/>
          <a:lstStyle/>
          <a:p>
            <a:pPr algn="l" indent="0" marL="0">
              <a:lnSpc>
                <a:spcPct val="117000"/>
              </a:lnSpc>
              <a:buNone/>
            </a:pPr>
            <a:r>
              <a:rPr lang="en-US" sz="2000" dirty="0">
                <a:solidFill>
                  <a:srgbClr val="DCD7E5"/>
                </a:solidFill>
                <a:latin typeface="Heebo Light" pitchFamily="34" charset="0"/>
                <a:ea typeface="Heebo Light" pitchFamily="34" charset="-122"/>
                <a:cs typeface="Heebo Light" pitchFamily="34" charset="-120"/>
              </a:rPr>
              <a:t>The challenge isn't always a lack of talent. It's finding the right combination of talent.</a:t>
            </a:r>
            <a:endParaRPr lang="en-US" sz="2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711182" y="489141"/>
            <a:ext cx="10769331" cy="457696"/>
          </a:xfrm>
          <a:prstGeom prst="rect">
            <a:avLst/>
          </a:prstGeom>
          <a:noFill/>
          <a:ln/>
        </p:spPr>
        <p:txBody>
          <a:bodyPr wrap="none" lIns="0" tIns="0" rIns="0" bIns="0" rtlCol="0" anchor="t"/>
          <a:lstStyle/>
          <a:p>
            <a:pPr algn="l" indent="0" marL="0">
              <a:lnSpc>
                <a:spcPct val="88000"/>
              </a:lnSpc>
              <a:buNone/>
            </a:pPr>
            <a:r>
              <a:rPr lang="en-US" sz="3400" spc="-85" kern="100" dirty="0">
                <a:solidFill>
                  <a:srgbClr val="F2F0F4"/>
                </a:solidFill>
                <a:latin typeface="Montserrat SemiBold" pitchFamily="34" charset="0"/>
                <a:ea typeface="Montserrat SemiBold" pitchFamily="34" charset="-122"/>
                <a:cs typeface="Montserrat SemiBold" pitchFamily="34" charset="-120"/>
              </a:rPr>
              <a:t>Meet Innov8x. From project idea to potential team.</a:t>
            </a:r>
            <a:endParaRPr lang="en-US" sz="3400" dirty="0"/>
          </a:p>
        </p:txBody>
      </p:sp>
      <p:sp>
        <p:nvSpPr>
          <p:cNvPr id="3" name="Shape 1"/>
          <p:cNvSpPr/>
          <p:nvPr/>
        </p:nvSpPr>
        <p:spPr>
          <a:xfrm>
            <a:off x="711182" y="1127621"/>
            <a:ext cx="246056" cy="215900"/>
          </a:xfrm>
          <a:prstGeom prst="rect">
            <a:avLst/>
          </a:prstGeom>
          <a:solidFill>
            <a:srgbClr val="FF76C8"/>
          </a:solidFill>
          <a:ln/>
        </p:spPr>
      </p:sp>
      <p:sp>
        <p:nvSpPr>
          <p:cNvPr id="4" name="Text 2"/>
          <p:cNvSpPr/>
          <p:nvPr/>
        </p:nvSpPr>
        <p:spPr>
          <a:xfrm>
            <a:off x="711182" y="1127621"/>
            <a:ext cx="855641" cy="215900"/>
          </a:xfrm>
          <a:prstGeom prst="rect">
            <a:avLst/>
          </a:prstGeom>
          <a:noFill/>
          <a:ln/>
        </p:spPr>
        <p:txBody>
          <a:bodyPr wrap="none" lIns="0" tIns="0" rIns="0" bIns="0" rtlCol="0" anchor="t"/>
          <a:lstStyle/>
          <a:p>
            <a:pPr algn="l" indent="0" marL="0">
              <a:lnSpc>
                <a:spcPct val="83000"/>
              </a:lnSpc>
              <a:buNone/>
            </a:pPr>
            <a:r>
              <a:rPr lang="en-US" sz="1700" dirty="0">
                <a:solidFill>
                  <a:srgbClr val="9857F9"/>
                </a:solidFill>
                <a:latin typeface="Heebo SemiBold" pitchFamily="34" charset="0"/>
                <a:ea typeface="Heebo SemiBold" pitchFamily="34" charset="-122"/>
                <a:cs typeface="Heebo SemiBold" pitchFamily="34" charset="-120"/>
              </a:rPr>
              <a:t>01</a:t>
            </a:r>
            <a:endParaRPr lang="en-US" sz="1700" dirty="0"/>
          </a:p>
        </p:txBody>
      </p:sp>
      <p:sp>
        <p:nvSpPr>
          <p:cNvPr id="5" name="Shape 3"/>
          <p:cNvSpPr/>
          <p:nvPr/>
        </p:nvSpPr>
        <p:spPr>
          <a:xfrm>
            <a:off x="711182" y="1430437"/>
            <a:ext cx="2463738" cy="19050"/>
          </a:xfrm>
          <a:prstGeom prst="rect">
            <a:avLst/>
          </a:prstGeom>
          <a:solidFill>
            <a:srgbClr val="D84CFF"/>
          </a:solidFill>
          <a:ln/>
        </p:spPr>
      </p:sp>
      <p:sp>
        <p:nvSpPr>
          <p:cNvPr id="6" name="Text 4"/>
          <p:cNvSpPr/>
          <p:nvPr/>
        </p:nvSpPr>
        <p:spPr>
          <a:xfrm>
            <a:off x="711182" y="1588008"/>
            <a:ext cx="2463738" cy="328116"/>
          </a:xfrm>
          <a:prstGeom prst="rect">
            <a:avLst/>
          </a:prstGeom>
          <a:noFill/>
          <a:ln/>
        </p:spPr>
        <p:txBody>
          <a:bodyPr wrap="none" lIns="0" tIns="0" rIns="0" bIns="0" rtlCol="0" anchor="t"/>
          <a:lstStyle/>
          <a:p>
            <a:pPr algn="l" indent="0" marL="0">
              <a:lnSpc>
                <a:spcPct val="113000"/>
              </a:lnSpc>
              <a:buNone/>
            </a:pPr>
            <a:r>
              <a:rPr lang="en-US" sz="1900" spc="-47" kern="100" dirty="0">
                <a:solidFill>
                  <a:srgbClr val="DCD7E5"/>
                </a:solidFill>
                <a:latin typeface="Montserrat Medium" pitchFamily="34" charset="0"/>
                <a:ea typeface="Montserrat Medium" pitchFamily="34" charset="-122"/>
                <a:cs typeface="Montserrat Medium" pitchFamily="34" charset="-120"/>
              </a:rPr>
              <a:t>Define Your Project</a:t>
            </a:r>
            <a:endParaRPr lang="en-US" sz="1900" dirty="0"/>
          </a:p>
        </p:txBody>
      </p:sp>
      <p:sp>
        <p:nvSpPr>
          <p:cNvPr id="7" name="Text 5"/>
          <p:cNvSpPr/>
          <p:nvPr/>
        </p:nvSpPr>
        <p:spPr>
          <a:xfrm>
            <a:off x="711182" y="2060079"/>
            <a:ext cx="2463738" cy="515541"/>
          </a:xfrm>
          <a:prstGeom prst="rect">
            <a:avLst/>
          </a:prstGeom>
          <a:noFill/>
          <a:ln/>
        </p:spPr>
        <p:txBody>
          <a:bodyPr wrap="square" lIns="0" tIns="0" rIns="0" bIns="0" rtlCol="0" anchor="t">
            <a:normAutofit/>
          </a:bodyPr>
          <a:lstStyle/>
          <a:p>
            <a:pPr algn="l" indent="0" marL="0">
              <a:lnSpc>
                <a:spcPct val="117000"/>
              </a:lnSpc>
              <a:buNone/>
            </a:pPr>
            <a:r>
              <a:rPr lang="en-US" sz="1450" dirty="0">
                <a:solidFill>
                  <a:srgbClr val="DCD7E5"/>
                </a:solidFill>
                <a:latin typeface="Heebo Light" pitchFamily="34" charset="0"/>
                <a:ea typeface="Heebo Light" pitchFamily="34" charset="-122"/>
                <a:cs typeface="Heebo Light" pitchFamily="34" charset="-120"/>
              </a:rPr>
              <a:t>Idea, required skills, interests and team size.</a:t>
            </a:r>
            <a:endParaRPr lang="en-US" sz="1450" dirty="0"/>
          </a:p>
        </p:txBody>
      </p:sp>
      <p:sp>
        <p:nvSpPr>
          <p:cNvPr id="8" name="Shape 6"/>
          <p:cNvSpPr/>
          <p:nvPr/>
        </p:nvSpPr>
        <p:spPr>
          <a:xfrm>
            <a:off x="3479713" y="1127621"/>
            <a:ext cx="246056" cy="215900"/>
          </a:xfrm>
          <a:prstGeom prst="rect">
            <a:avLst/>
          </a:prstGeom>
          <a:solidFill>
            <a:srgbClr val="FF76C8"/>
          </a:solidFill>
          <a:ln/>
        </p:spPr>
      </p:sp>
      <p:sp>
        <p:nvSpPr>
          <p:cNvPr id="9" name="Text 7"/>
          <p:cNvSpPr/>
          <p:nvPr/>
        </p:nvSpPr>
        <p:spPr>
          <a:xfrm>
            <a:off x="3479713" y="1127621"/>
            <a:ext cx="855641" cy="215900"/>
          </a:xfrm>
          <a:prstGeom prst="rect">
            <a:avLst/>
          </a:prstGeom>
          <a:noFill/>
          <a:ln/>
        </p:spPr>
        <p:txBody>
          <a:bodyPr wrap="none" lIns="0" tIns="0" rIns="0" bIns="0" rtlCol="0" anchor="t"/>
          <a:lstStyle/>
          <a:p>
            <a:pPr algn="l" indent="0" marL="0">
              <a:lnSpc>
                <a:spcPct val="83000"/>
              </a:lnSpc>
              <a:buNone/>
            </a:pPr>
            <a:r>
              <a:rPr lang="en-US" sz="1700" dirty="0">
                <a:solidFill>
                  <a:srgbClr val="9857F9"/>
                </a:solidFill>
                <a:latin typeface="Heebo SemiBold" pitchFamily="34" charset="0"/>
                <a:ea typeface="Heebo SemiBold" pitchFamily="34" charset="-122"/>
                <a:cs typeface="Heebo SemiBold" pitchFamily="34" charset="-120"/>
              </a:rPr>
              <a:t>02</a:t>
            </a:r>
            <a:endParaRPr lang="en-US" sz="1700" dirty="0"/>
          </a:p>
        </p:txBody>
      </p:sp>
      <p:sp>
        <p:nvSpPr>
          <p:cNvPr id="10" name="Shape 8"/>
          <p:cNvSpPr/>
          <p:nvPr/>
        </p:nvSpPr>
        <p:spPr>
          <a:xfrm>
            <a:off x="3479713" y="1430437"/>
            <a:ext cx="2463738" cy="19050"/>
          </a:xfrm>
          <a:prstGeom prst="rect">
            <a:avLst/>
          </a:prstGeom>
          <a:solidFill>
            <a:srgbClr val="D84CFF"/>
          </a:solidFill>
          <a:ln/>
        </p:spPr>
      </p:sp>
      <p:sp>
        <p:nvSpPr>
          <p:cNvPr id="11" name="Text 9"/>
          <p:cNvSpPr/>
          <p:nvPr/>
        </p:nvSpPr>
        <p:spPr>
          <a:xfrm>
            <a:off x="3479713" y="1588008"/>
            <a:ext cx="2463738" cy="656233"/>
          </a:xfrm>
          <a:prstGeom prst="rect">
            <a:avLst/>
          </a:prstGeom>
          <a:noFill/>
          <a:ln/>
        </p:spPr>
        <p:txBody>
          <a:bodyPr wrap="square" lIns="0" tIns="0" rIns="0" bIns="0" rtlCol="0" anchor="t">
            <a:normAutofit/>
          </a:bodyPr>
          <a:lstStyle/>
          <a:p>
            <a:pPr algn="l" indent="0" marL="0">
              <a:lnSpc>
                <a:spcPct val="113000"/>
              </a:lnSpc>
              <a:buNone/>
            </a:pPr>
            <a:r>
              <a:rPr lang="en-US" sz="1900" spc="-47" kern="100" dirty="0">
                <a:solidFill>
                  <a:srgbClr val="DCD7E5"/>
                </a:solidFill>
                <a:latin typeface="Montserrat Medium" pitchFamily="34" charset="0"/>
                <a:ea typeface="Montserrat Medium" pitchFamily="34" charset="-122"/>
                <a:cs typeface="Montserrat Medium" pitchFamily="34" charset="-120"/>
              </a:rPr>
              <a:t>Discover Collaborators</a:t>
            </a:r>
            <a:endParaRPr lang="en-US" sz="1900" dirty="0"/>
          </a:p>
        </p:txBody>
      </p:sp>
      <p:sp>
        <p:nvSpPr>
          <p:cNvPr id="12" name="Text 10"/>
          <p:cNvSpPr/>
          <p:nvPr/>
        </p:nvSpPr>
        <p:spPr>
          <a:xfrm>
            <a:off x="3479713" y="2388195"/>
            <a:ext cx="2463738" cy="515541"/>
          </a:xfrm>
          <a:prstGeom prst="rect">
            <a:avLst/>
          </a:prstGeom>
          <a:noFill/>
          <a:ln/>
        </p:spPr>
        <p:txBody>
          <a:bodyPr wrap="square" lIns="0" tIns="0" rIns="0" bIns="0" rtlCol="0" anchor="t">
            <a:normAutofit/>
          </a:bodyPr>
          <a:lstStyle/>
          <a:p>
            <a:pPr algn="l" indent="0" marL="0">
              <a:lnSpc>
                <a:spcPct val="117000"/>
              </a:lnSpc>
              <a:buNone/>
            </a:pPr>
            <a:r>
              <a:rPr lang="en-US" sz="1450" dirty="0">
                <a:solidFill>
                  <a:srgbClr val="DCD7E5"/>
                </a:solidFill>
                <a:latin typeface="Heebo Light" pitchFamily="34" charset="0"/>
                <a:ea typeface="Heebo Light" pitchFamily="34" charset="-122"/>
                <a:cs typeface="Heebo Light" pitchFamily="34" charset="-120"/>
              </a:rPr>
              <a:t>Students with complementary skills.</a:t>
            </a:r>
            <a:endParaRPr lang="en-US" sz="1450" dirty="0"/>
          </a:p>
        </p:txBody>
      </p:sp>
      <p:sp>
        <p:nvSpPr>
          <p:cNvPr id="13" name="Shape 11"/>
          <p:cNvSpPr/>
          <p:nvPr/>
        </p:nvSpPr>
        <p:spPr>
          <a:xfrm>
            <a:off x="6248244" y="1127621"/>
            <a:ext cx="246056" cy="215900"/>
          </a:xfrm>
          <a:prstGeom prst="rect">
            <a:avLst/>
          </a:prstGeom>
          <a:solidFill>
            <a:srgbClr val="FF76C8"/>
          </a:solidFill>
          <a:ln/>
        </p:spPr>
      </p:sp>
      <p:sp>
        <p:nvSpPr>
          <p:cNvPr id="14" name="Text 12"/>
          <p:cNvSpPr/>
          <p:nvPr/>
        </p:nvSpPr>
        <p:spPr>
          <a:xfrm>
            <a:off x="6248244" y="1127621"/>
            <a:ext cx="855641" cy="215900"/>
          </a:xfrm>
          <a:prstGeom prst="rect">
            <a:avLst/>
          </a:prstGeom>
          <a:noFill/>
          <a:ln/>
        </p:spPr>
        <p:txBody>
          <a:bodyPr wrap="none" lIns="0" tIns="0" rIns="0" bIns="0" rtlCol="0" anchor="t"/>
          <a:lstStyle/>
          <a:p>
            <a:pPr algn="l" indent="0" marL="0">
              <a:lnSpc>
                <a:spcPct val="83000"/>
              </a:lnSpc>
              <a:buNone/>
            </a:pPr>
            <a:r>
              <a:rPr lang="en-US" sz="1700" dirty="0">
                <a:solidFill>
                  <a:srgbClr val="9857F9"/>
                </a:solidFill>
                <a:latin typeface="Heebo SemiBold" pitchFamily="34" charset="0"/>
                <a:ea typeface="Heebo SemiBold" pitchFamily="34" charset="-122"/>
                <a:cs typeface="Heebo SemiBold" pitchFamily="34" charset="-120"/>
              </a:rPr>
              <a:t>03</a:t>
            </a:r>
            <a:endParaRPr lang="en-US" sz="1700" dirty="0"/>
          </a:p>
        </p:txBody>
      </p:sp>
      <p:sp>
        <p:nvSpPr>
          <p:cNvPr id="15" name="Shape 13"/>
          <p:cNvSpPr/>
          <p:nvPr/>
        </p:nvSpPr>
        <p:spPr>
          <a:xfrm>
            <a:off x="6248244" y="1430437"/>
            <a:ext cx="2463738" cy="19050"/>
          </a:xfrm>
          <a:prstGeom prst="rect">
            <a:avLst/>
          </a:prstGeom>
          <a:solidFill>
            <a:srgbClr val="D84CFF"/>
          </a:solidFill>
          <a:ln/>
        </p:spPr>
      </p:sp>
      <p:sp>
        <p:nvSpPr>
          <p:cNvPr id="16" name="Text 14"/>
          <p:cNvSpPr/>
          <p:nvPr/>
        </p:nvSpPr>
        <p:spPr>
          <a:xfrm>
            <a:off x="6248244" y="1588008"/>
            <a:ext cx="2463738" cy="656233"/>
          </a:xfrm>
          <a:prstGeom prst="rect">
            <a:avLst/>
          </a:prstGeom>
          <a:noFill/>
          <a:ln/>
        </p:spPr>
        <p:txBody>
          <a:bodyPr wrap="square" lIns="0" tIns="0" rIns="0" bIns="0" rtlCol="0" anchor="t">
            <a:normAutofit/>
          </a:bodyPr>
          <a:lstStyle/>
          <a:p>
            <a:pPr algn="l" indent="0" marL="0">
              <a:lnSpc>
                <a:spcPct val="113000"/>
              </a:lnSpc>
              <a:buNone/>
            </a:pPr>
            <a:r>
              <a:rPr lang="en-US" sz="1900" spc="-47" kern="100" dirty="0">
                <a:solidFill>
                  <a:srgbClr val="DCD7E5"/>
                </a:solidFill>
                <a:latin typeface="Montserrat Medium" pitchFamily="34" charset="0"/>
                <a:ea typeface="Montserrat Medium" pitchFamily="34" charset="-122"/>
                <a:cs typeface="Montserrat Medium" pitchFamily="34" charset="-120"/>
              </a:rPr>
              <a:t>Understand the Match</a:t>
            </a:r>
            <a:endParaRPr lang="en-US" sz="1900" dirty="0"/>
          </a:p>
        </p:txBody>
      </p:sp>
      <p:sp>
        <p:nvSpPr>
          <p:cNvPr id="17" name="Text 15"/>
          <p:cNvSpPr/>
          <p:nvPr/>
        </p:nvSpPr>
        <p:spPr>
          <a:xfrm>
            <a:off x="6248244" y="2388195"/>
            <a:ext cx="2463738" cy="515541"/>
          </a:xfrm>
          <a:prstGeom prst="rect">
            <a:avLst/>
          </a:prstGeom>
          <a:noFill/>
          <a:ln/>
        </p:spPr>
        <p:txBody>
          <a:bodyPr wrap="square" lIns="0" tIns="0" rIns="0" bIns="0" rtlCol="0" anchor="t">
            <a:normAutofit/>
          </a:bodyPr>
          <a:lstStyle/>
          <a:p>
            <a:pPr algn="l" indent="0" marL="0">
              <a:lnSpc>
                <a:spcPct val="117000"/>
              </a:lnSpc>
              <a:buNone/>
            </a:pPr>
            <a:r>
              <a:rPr lang="en-US" sz="1450" dirty="0">
                <a:solidFill>
                  <a:srgbClr val="DCD7E5"/>
                </a:solidFill>
                <a:latin typeface="Heebo Light" pitchFamily="34" charset="0"/>
                <a:ea typeface="Heebo Light" pitchFamily="34" charset="-122"/>
                <a:cs typeface="Heebo Light" pitchFamily="34" charset="-120"/>
              </a:rPr>
              <a:t>Compatibility, roles and skill gaps.</a:t>
            </a:r>
            <a:endParaRPr lang="en-US" sz="1450" dirty="0"/>
          </a:p>
        </p:txBody>
      </p:sp>
      <p:sp>
        <p:nvSpPr>
          <p:cNvPr id="18" name="Shape 16"/>
          <p:cNvSpPr/>
          <p:nvPr/>
        </p:nvSpPr>
        <p:spPr>
          <a:xfrm>
            <a:off x="9016774" y="1127621"/>
            <a:ext cx="246056" cy="215900"/>
          </a:xfrm>
          <a:prstGeom prst="rect">
            <a:avLst/>
          </a:prstGeom>
          <a:solidFill>
            <a:srgbClr val="FF76C8"/>
          </a:solidFill>
          <a:ln/>
        </p:spPr>
      </p:sp>
      <p:sp>
        <p:nvSpPr>
          <p:cNvPr id="19" name="Text 17"/>
          <p:cNvSpPr/>
          <p:nvPr/>
        </p:nvSpPr>
        <p:spPr>
          <a:xfrm>
            <a:off x="9016774" y="1127621"/>
            <a:ext cx="855641" cy="215900"/>
          </a:xfrm>
          <a:prstGeom prst="rect">
            <a:avLst/>
          </a:prstGeom>
          <a:noFill/>
          <a:ln/>
        </p:spPr>
        <p:txBody>
          <a:bodyPr wrap="none" lIns="0" tIns="0" rIns="0" bIns="0" rtlCol="0" anchor="t"/>
          <a:lstStyle/>
          <a:p>
            <a:pPr algn="l" indent="0" marL="0">
              <a:lnSpc>
                <a:spcPct val="83000"/>
              </a:lnSpc>
              <a:buNone/>
            </a:pPr>
            <a:r>
              <a:rPr lang="en-US" sz="1700" dirty="0">
                <a:solidFill>
                  <a:srgbClr val="9857F9"/>
                </a:solidFill>
                <a:latin typeface="Heebo SemiBold" pitchFamily="34" charset="0"/>
                <a:ea typeface="Heebo SemiBold" pitchFamily="34" charset="-122"/>
                <a:cs typeface="Heebo SemiBold" pitchFamily="34" charset="-120"/>
              </a:rPr>
              <a:t>04</a:t>
            </a:r>
            <a:endParaRPr lang="en-US" sz="1700" dirty="0"/>
          </a:p>
        </p:txBody>
      </p:sp>
      <p:sp>
        <p:nvSpPr>
          <p:cNvPr id="20" name="Shape 18"/>
          <p:cNvSpPr/>
          <p:nvPr/>
        </p:nvSpPr>
        <p:spPr>
          <a:xfrm>
            <a:off x="9016774" y="1430437"/>
            <a:ext cx="2463738" cy="19050"/>
          </a:xfrm>
          <a:prstGeom prst="rect">
            <a:avLst/>
          </a:prstGeom>
          <a:solidFill>
            <a:srgbClr val="D84CFF"/>
          </a:solidFill>
          <a:ln/>
        </p:spPr>
      </p:sp>
      <p:sp>
        <p:nvSpPr>
          <p:cNvPr id="21" name="Text 19"/>
          <p:cNvSpPr/>
          <p:nvPr/>
        </p:nvSpPr>
        <p:spPr>
          <a:xfrm>
            <a:off x="9016774" y="1588008"/>
            <a:ext cx="2463738" cy="328116"/>
          </a:xfrm>
          <a:prstGeom prst="rect">
            <a:avLst/>
          </a:prstGeom>
          <a:noFill/>
          <a:ln/>
        </p:spPr>
        <p:txBody>
          <a:bodyPr wrap="none" lIns="0" tIns="0" rIns="0" bIns="0" rtlCol="0" anchor="t"/>
          <a:lstStyle/>
          <a:p>
            <a:pPr algn="l" indent="0" marL="0">
              <a:lnSpc>
                <a:spcPct val="113000"/>
              </a:lnSpc>
              <a:buNone/>
            </a:pPr>
            <a:r>
              <a:rPr lang="en-US" sz="1900" spc="-47" kern="100" dirty="0">
                <a:solidFill>
                  <a:srgbClr val="DCD7E5"/>
                </a:solidFill>
                <a:latin typeface="Montserrat Medium" pitchFamily="34" charset="0"/>
                <a:ea typeface="Montserrat Medium" pitchFamily="34" charset="-122"/>
                <a:cs typeface="Montserrat Medium" pitchFamily="34" charset="-120"/>
              </a:rPr>
              <a:t>Build Your Team</a:t>
            </a:r>
            <a:endParaRPr lang="en-US" sz="1900" dirty="0"/>
          </a:p>
        </p:txBody>
      </p:sp>
      <p:sp>
        <p:nvSpPr>
          <p:cNvPr id="22" name="Text 20"/>
          <p:cNvSpPr/>
          <p:nvPr/>
        </p:nvSpPr>
        <p:spPr>
          <a:xfrm>
            <a:off x="9016774" y="2060079"/>
            <a:ext cx="2463738" cy="515541"/>
          </a:xfrm>
          <a:prstGeom prst="rect">
            <a:avLst/>
          </a:prstGeom>
          <a:noFill/>
          <a:ln/>
        </p:spPr>
        <p:txBody>
          <a:bodyPr wrap="square" lIns="0" tIns="0" rIns="0" bIns="0" rtlCol="0" anchor="t">
            <a:normAutofit/>
          </a:bodyPr>
          <a:lstStyle/>
          <a:p>
            <a:pPr algn="l" indent="0" marL="0">
              <a:lnSpc>
                <a:spcPct val="117000"/>
              </a:lnSpc>
              <a:buNone/>
            </a:pPr>
            <a:r>
              <a:rPr lang="en-US" sz="1450" dirty="0">
                <a:solidFill>
                  <a:srgbClr val="DCD7E5"/>
                </a:solidFill>
                <a:latin typeface="Heebo Light" pitchFamily="34" charset="0"/>
                <a:ea typeface="Heebo Light" pitchFamily="34" charset="-122"/>
                <a:cs typeface="Heebo Light" pitchFamily="34" charset="-120"/>
              </a:rPr>
              <a:t>Review recommendations and choose collaborators.</a:t>
            </a:r>
            <a:endParaRPr lang="en-US" sz="1450" dirty="0"/>
          </a:p>
        </p:txBody>
      </p:sp>
      <p:sp>
        <p:nvSpPr>
          <p:cNvPr id="23" name="Shape 21"/>
          <p:cNvSpPr/>
          <p:nvPr/>
        </p:nvSpPr>
        <p:spPr>
          <a:xfrm>
            <a:off x="711182" y="3094236"/>
            <a:ext cx="10769331" cy="2318841"/>
          </a:xfrm>
          <a:prstGeom prst="roundRect">
            <a:avLst>
              <a:gd name="adj" fmla="val 9201"/>
            </a:avLst>
          </a:prstGeom>
          <a:solidFill>
            <a:srgbClr val="18113D"/>
          </a:solidFill>
          <a:ln w="12700">
            <a:solidFill>
              <a:srgbClr val="F2F0F4">
                <a:alpha val="14000"/>
              </a:srgbClr>
            </a:solidFill>
            <a:prstDash val="solid"/>
          </a:ln>
          <a:effectLst>
            <a:outerShdw sx="100000" sy="100000" kx="0" ky="0" algn="bl" rotWithShape="0" blurRad="127" dist="11430" dir="5400000">
              <a:srgbClr val="f2f0f4">
                <a:alpha val="10000"/>
              </a:srgbClr>
            </a:outerShdw>
          </a:effectLst>
        </p:spPr>
      </p:sp>
      <p:sp>
        <p:nvSpPr>
          <p:cNvPr id="24" name="Text 22"/>
          <p:cNvSpPr/>
          <p:nvPr/>
        </p:nvSpPr>
        <p:spPr>
          <a:xfrm>
            <a:off x="977876" y="3312041"/>
            <a:ext cx="10502637" cy="182860"/>
          </a:xfrm>
          <a:prstGeom prst="rect">
            <a:avLst/>
          </a:prstGeom>
          <a:noFill/>
          <a:ln/>
        </p:spPr>
        <p:txBody>
          <a:bodyPr wrap="none" lIns="0" tIns="0" rIns="0" bIns="0" rtlCol="0" anchor="t"/>
          <a:lstStyle/>
          <a:p>
            <a:pPr algn="l" indent="0" marL="0">
              <a:lnSpc>
                <a:spcPct val="100000"/>
              </a:lnSpc>
              <a:buNone/>
            </a:pPr>
            <a:r>
              <a:rPr lang="en-US" sz="1200" spc="96" kern="100" dirty="0">
                <a:solidFill>
                  <a:srgbClr val="DCD7E5"/>
                </a:solidFill>
                <a:latin typeface="Heebo Medium" pitchFamily="34" charset="0"/>
                <a:ea typeface="Heebo Medium" pitchFamily="34" charset="-122"/>
                <a:cs typeface="Heebo Medium" pitchFamily="34" charset="-120"/>
              </a:rPr>
              <a:t>CONCEPT MOCKUP</a:t>
            </a:r>
            <a:endParaRPr lang="en-US" sz="1200" dirty="0"/>
          </a:p>
        </p:txBody>
      </p:sp>
      <p:sp>
        <p:nvSpPr>
          <p:cNvPr id="25" name="Text 23"/>
          <p:cNvSpPr/>
          <p:nvPr/>
        </p:nvSpPr>
        <p:spPr>
          <a:xfrm>
            <a:off x="977876" y="3625267"/>
            <a:ext cx="3208753" cy="328116"/>
          </a:xfrm>
          <a:prstGeom prst="rect">
            <a:avLst/>
          </a:prstGeom>
          <a:noFill/>
          <a:ln/>
        </p:spPr>
        <p:txBody>
          <a:bodyPr wrap="none" lIns="0" tIns="0" rIns="0" bIns="0" rtlCol="0" anchor="t"/>
          <a:lstStyle/>
          <a:p>
            <a:pPr algn="l" indent="0" marL="0">
              <a:lnSpc>
                <a:spcPct val="113000"/>
              </a:lnSpc>
              <a:buNone/>
            </a:pPr>
            <a:r>
              <a:rPr lang="en-US" sz="1900" spc="-47" kern="100" dirty="0">
                <a:solidFill>
                  <a:srgbClr val="DCD7E5"/>
                </a:solidFill>
                <a:latin typeface="Montserrat Medium" pitchFamily="34" charset="0"/>
                <a:ea typeface="Montserrat Medium" pitchFamily="34" charset="-122"/>
                <a:cs typeface="Montserrat Medium" pitchFamily="34" charset="-120"/>
              </a:rPr>
              <a:t>Project card</a:t>
            </a:r>
            <a:endParaRPr lang="en-US" sz="1900" dirty="0"/>
          </a:p>
        </p:txBody>
      </p:sp>
      <p:sp>
        <p:nvSpPr>
          <p:cNvPr id="26" name="Text 24"/>
          <p:cNvSpPr/>
          <p:nvPr/>
        </p:nvSpPr>
        <p:spPr>
          <a:xfrm>
            <a:off x="977876" y="4097338"/>
            <a:ext cx="3208753" cy="257770"/>
          </a:xfrm>
          <a:prstGeom prst="rect">
            <a:avLst/>
          </a:prstGeom>
          <a:noFill/>
          <a:ln/>
        </p:spPr>
        <p:txBody>
          <a:bodyPr wrap="none" lIns="0" tIns="0" rIns="0" bIns="0" rtlCol="0" anchor="t"/>
          <a:lstStyle/>
          <a:p>
            <a:pPr algn="l" indent="0" marL="0">
              <a:lnSpc>
                <a:spcPct val="117000"/>
              </a:lnSpc>
              <a:buNone/>
            </a:pPr>
            <a:r>
              <a:rPr lang="en-US" sz="1450" dirty="0">
                <a:solidFill>
                  <a:srgbClr val="DCD7E5"/>
                </a:solidFill>
                <a:latin typeface="Heebo Light" pitchFamily="34" charset="0"/>
                <a:ea typeface="Heebo Light" pitchFamily="34" charset="-122"/>
                <a:cs typeface="Heebo Light" pitchFamily="34" charset="-120"/>
              </a:rPr>
              <a:t>Your project idea</a:t>
            </a:r>
            <a:endParaRPr lang="en-US" sz="1450" dirty="0"/>
          </a:p>
        </p:txBody>
      </p:sp>
      <p:sp>
        <p:nvSpPr>
          <p:cNvPr id="27" name="Shape 25"/>
          <p:cNvSpPr/>
          <p:nvPr/>
        </p:nvSpPr>
        <p:spPr>
          <a:xfrm>
            <a:off x="977876" y="4478933"/>
            <a:ext cx="1862389" cy="336649"/>
          </a:xfrm>
          <a:prstGeom prst="roundRect">
            <a:avLst>
              <a:gd name="adj" fmla="val 3395"/>
            </a:avLst>
          </a:prstGeom>
          <a:noFill/>
          <a:ln w="6350">
            <a:solidFill>
              <a:srgbClr val="DCD7E5"/>
            </a:solidFill>
            <a:prstDash val="solid"/>
          </a:ln>
        </p:spPr>
      </p:sp>
      <p:sp>
        <p:nvSpPr>
          <p:cNvPr id="28" name="Text 26"/>
          <p:cNvSpPr/>
          <p:nvPr/>
        </p:nvSpPr>
        <p:spPr>
          <a:xfrm>
            <a:off x="1107353" y="4544195"/>
            <a:ext cx="2213019" cy="207268"/>
          </a:xfrm>
          <a:prstGeom prst="rect">
            <a:avLst/>
          </a:prstGeom>
          <a:noFill/>
          <a:ln/>
        </p:spPr>
        <p:txBody>
          <a:bodyPr wrap="none" lIns="0" tIns="0" rIns="0" bIns="0" rtlCol="0" anchor="t"/>
          <a:lstStyle/>
          <a:p>
            <a:pPr algn="l" indent="0" marL="0">
              <a:lnSpc>
                <a:spcPct val="100000"/>
              </a:lnSpc>
              <a:buNone/>
            </a:pPr>
            <a:r>
              <a:rPr lang="en-US" sz="1350" spc="109" kern="100" dirty="0">
                <a:solidFill>
                  <a:srgbClr val="DCD7E5"/>
                </a:solidFill>
                <a:latin typeface="Heebo Medium" pitchFamily="34" charset="0"/>
                <a:ea typeface="Heebo Medium" pitchFamily="34" charset="-122"/>
                <a:cs typeface="Heebo Medium" pitchFamily="34" charset="-120"/>
              </a:rPr>
              <a:t>REQUIRED SKILLS</a:t>
            </a:r>
            <a:endParaRPr lang="en-US" sz="1350" dirty="0"/>
          </a:p>
        </p:txBody>
      </p:sp>
      <p:sp>
        <p:nvSpPr>
          <p:cNvPr id="29" name="Text 27"/>
          <p:cNvSpPr/>
          <p:nvPr/>
        </p:nvSpPr>
        <p:spPr>
          <a:xfrm>
            <a:off x="977876" y="4939407"/>
            <a:ext cx="3208753" cy="257770"/>
          </a:xfrm>
          <a:prstGeom prst="rect">
            <a:avLst/>
          </a:prstGeom>
          <a:noFill/>
          <a:ln/>
        </p:spPr>
        <p:txBody>
          <a:bodyPr wrap="none" lIns="0" tIns="0" rIns="0" bIns="0" rtlCol="0" anchor="t"/>
          <a:lstStyle/>
          <a:p>
            <a:pPr algn="l" indent="0" marL="0">
              <a:lnSpc>
                <a:spcPct val="117000"/>
              </a:lnSpc>
              <a:buNone/>
            </a:pPr>
            <a:r>
              <a:rPr lang="en-US" sz="1450" dirty="0">
                <a:solidFill>
                  <a:srgbClr val="DCD7E5"/>
                </a:solidFill>
                <a:latin typeface="Heebo Light" pitchFamily="34" charset="0"/>
                <a:ea typeface="Heebo Light" pitchFamily="34" charset="-122"/>
                <a:cs typeface="Heebo Light" pitchFamily="34" charset="-120"/>
              </a:rPr>
              <a:t>Interests · Team size</a:t>
            </a:r>
            <a:endParaRPr lang="en-US" sz="1450" dirty="0"/>
          </a:p>
        </p:txBody>
      </p:sp>
      <p:sp>
        <p:nvSpPr>
          <p:cNvPr id="30" name="Text 28"/>
          <p:cNvSpPr/>
          <p:nvPr/>
        </p:nvSpPr>
        <p:spPr>
          <a:xfrm>
            <a:off x="4491421" y="3625267"/>
            <a:ext cx="3208753" cy="328116"/>
          </a:xfrm>
          <a:prstGeom prst="rect">
            <a:avLst/>
          </a:prstGeom>
          <a:noFill/>
          <a:ln/>
        </p:spPr>
        <p:txBody>
          <a:bodyPr wrap="none" lIns="0" tIns="0" rIns="0" bIns="0" rtlCol="0" anchor="t"/>
          <a:lstStyle/>
          <a:p>
            <a:pPr algn="l" indent="0" marL="0">
              <a:lnSpc>
                <a:spcPct val="113000"/>
              </a:lnSpc>
              <a:buNone/>
            </a:pPr>
            <a:r>
              <a:rPr lang="en-US" sz="1900" spc="-47" kern="100" dirty="0">
                <a:solidFill>
                  <a:srgbClr val="DCD7E5"/>
                </a:solidFill>
                <a:latin typeface="Montserrat Medium" pitchFamily="34" charset="0"/>
                <a:ea typeface="Montserrat Medium" pitchFamily="34" charset="-122"/>
                <a:cs typeface="Montserrat Medium" pitchFamily="34" charset="-120"/>
              </a:rPr>
              <a:t>Recommended profiles</a:t>
            </a:r>
            <a:endParaRPr lang="en-US" sz="1900" dirty="0"/>
          </a:p>
        </p:txBody>
      </p:sp>
      <p:sp>
        <p:nvSpPr>
          <p:cNvPr id="31" name="Text 29"/>
          <p:cNvSpPr/>
          <p:nvPr/>
        </p:nvSpPr>
        <p:spPr>
          <a:xfrm>
            <a:off x="4491421" y="4097338"/>
            <a:ext cx="3208753" cy="897136"/>
          </a:xfrm>
          <a:prstGeom prst="rect">
            <a:avLst/>
          </a:prstGeom>
          <a:noFill/>
          <a:ln/>
        </p:spPr>
        <p:txBody>
          <a:bodyPr wrap="square" lIns="0" tIns="0" rIns="0" bIns="0" rtlCol="0" anchor="t"/>
          <a:lstStyle/>
          <a:p>
            <a:pPr algn="l" indent="0" marL="0">
              <a:lnSpc>
                <a:spcPct val="117000"/>
              </a:lnSpc>
              <a:spcAft>
                <a:spcPts val="950"/>
              </a:spcAft>
              <a:buNone/>
            </a:pPr>
            <a:r>
              <a:rPr lang="en-US" sz="1450" dirty="0">
                <a:solidFill>
                  <a:srgbClr val="DCD7E5"/>
                </a:solidFill>
                <a:latin typeface="Heebo Light" pitchFamily="34" charset="0"/>
                <a:ea typeface="Heebo Light" pitchFamily="34" charset="-122"/>
                <a:cs typeface="Heebo Light" pitchFamily="34" charset="-120"/>
              </a:rPr>
              <a:t>Student profile · Suggested role</a:t>
            </a:r>
            <a:endParaRPr lang="en-US" sz="1450" dirty="0"/>
          </a:p>
          <a:p>
            <a:pPr algn="l" indent="0" marL="0">
              <a:lnSpc>
                <a:spcPct val="117000"/>
              </a:lnSpc>
              <a:buNone/>
            </a:pPr>
            <a:r>
              <a:rPr lang="en-US" sz="1450" dirty="0">
                <a:solidFill>
                  <a:srgbClr val="DCD7E5"/>
                </a:solidFill>
                <a:latin typeface="Heebo Light" pitchFamily="34" charset="0"/>
                <a:ea typeface="Heebo Light" pitchFamily="34" charset="-122"/>
                <a:cs typeface="Heebo Light" pitchFamily="34" charset="-120"/>
              </a:rPr>
              <a:t>Compatibility scores</a:t>
            </a:r>
            <a:endParaRPr lang="en-US" sz="1450" dirty="0"/>
          </a:p>
          <a:p>
            <a:pPr algn="l" indent="0" marL="0">
              <a:lnSpc>
                <a:spcPct val="117000"/>
              </a:lnSpc>
              <a:buNone/>
            </a:pPr>
            <a:r>
              <a:rPr lang="en-US" sz="1450" dirty="0">
                <a:solidFill>
                  <a:srgbClr val="DCD7E5"/>
                </a:solidFill>
                <a:latin typeface="Heebo Light" pitchFamily="34" charset="0"/>
                <a:ea typeface="Heebo Light" pitchFamily="34" charset="-122"/>
                <a:cs typeface="Heebo Light" pitchFamily="34" charset="-120"/>
              </a:rPr>
              <a:t>[Calculated after matching]</a:t>
            </a:r>
            <a:endParaRPr lang="en-US" sz="1450" dirty="0"/>
          </a:p>
        </p:txBody>
      </p:sp>
      <p:sp>
        <p:nvSpPr>
          <p:cNvPr id="32" name="Text 30"/>
          <p:cNvSpPr/>
          <p:nvPr/>
        </p:nvSpPr>
        <p:spPr>
          <a:xfrm>
            <a:off x="8004967" y="3625267"/>
            <a:ext cx="3208853" cy="328116"/>
          </a:xfrm>
          <a:prstGeom prst="rect">
            <a:avLst/>
          </a:prstGeom>
          <a:noFill/>
          <a:ln/>
        </p:spPr>
        <p:txBody>
          <a:bodyPr wrap="none" lIns="0" tIns="0" rIns="0" bIns="0" rtlCol="0" anchor="t"/>
          <a:lstStyle/>
          <a:p>
            <a:pPr algn="l" indent="0" marL="0">
              <a:lnSpc>
                <a:spcPct val="113000"/>
              </a:lnSpc>
              <a:buNone/>
            </a:pPr>
            <a:r>
              <a:rPr lang="en-US" sz="1900" spc="-47" kern="100" dirty="0">
                <a:solidFill>
                  <a:srgbClr val="DCD7E5"/>
                </a:solidFill>
                <a:latin typeface="Montserrat Medium" pitchFamily="34" charset="0"/>
                <a:ea typeface="Montserrat Medium" pitchFamily="34" charset="-122"/>
                <a:cs typeface="Montserrat Medium" pitchFamily="34" charset="-120"/>
              </a:rPr>
              <a:t>Skill-gap indicators</a:t>
            </a:r>
            <a:endParaRPr lang="en-US" sz="1900" dirty="0"/>
          </a:p>
        </p:txBody>
      </p:sp>
      <p:sp>
        <p:nvSpPr>
          <p:cNvPr id="33" name="Text 31"/>
          <p:cNvSpPr/>
          <p:nvPr/>
        </p:nvSpPr>
        <p:spPr>
          <a:xfrm>
            <a:off x="8004967" y="4097338"/>
            <a:ext cx="3208853" cy="1020961"/>
          </a:xfrm>
          <a:prstGeom prst="rect">
            <a:avLst/>
          </a:prstGeom>
          <a:noFill/>
          <a:ln/>
        </p:spPr>
        <p:txBody>
          <a:bodyPr wrap="square" lIns="0" tIns="0" rIns="0" bIns="0" rtlCol="0" anchor="t"/>
          <a:lstStyle/>
          <a:p>
            <a:pPr algn="l" indent="0" marL="0">
              <a:lnSpc>
                <a:spcPct val="117000"/>
              </a:lnSpc>
              <a:spcAft>
                <a:spcPts val="950"/>
              </a:spcAft>
              <a:buNone/>
            </a:pPr>
            <a:r>
              <a:rPr lang="en-US" sz="1450" dirty="0">
                <a:solidFill>
                  <a:srgbClr val="DCD7E5"/>
                </a:solidFill>
                <a:latin typeface="Heebo Light" pitchFamily="34" charset="0"/>
                <a:ea typeface="Heebo Light" pitchFamily="34" charset="-122"/>
                <a:cs typeface="Heebo Light" pitchFamily="34" charset="-120"/>
              </a:rPr>
              <a:t>Covered skills</a:t>
            </a:r>
            <a:endParaRPr lang="en-US" sz="1450" dirty="0"/>
          </a:p>
          <a:p>
            <a:pPr algn="l" indent="0" marL="0">
              <a:lnSpc>
                <a:spcPct val="117000"/>
              </a:lnSpc>
              <a:spcAft>
                <a:spcPts val="950"/>
              </a:spcAft>
              <a:buNone/>
            </a:pPr>
            <a:r>
              <a:rPr lang="en-US" sz="1450" dirty="0">
                <a:solidFill>
                  <a:srgbClr val="DCD7E5"/>
                </a:solidFill>
                <a:latin typeface="Heebo Light" pitchFamily="34" charset="0"/>
                <a:ea typeface="Heebo Light" pitchFamily="34" charset="-122"/>
                <a:cs typeface="Heebo Light" pitchFamily="34" charset="-120"/>
              </a:rPr>
              <a:t>Uncovered requirements</a:t>
            </a:r>
            <a:endParaRPr lang="en-US" sz="1450" dirty="0"/>
          </a:p>
          <a:p>
            <a:pPr algn="l" indent="0" marL="0">
              <a:lnSpc>
                <a:spcPct val="117000"/>
              </a:lnSpc>
              <a:buNone/>
            </a:pPr>
            <a:r>
              <a:rPr lang="en-US" sz="1450" dirty="0">
                <a:solidFill>
                  <a:srgbClr val="DCD7E5"/>
                </a:solidFill>
                <a:latin typeface="Heebo Light" pitchFamily="34" charset="0"/>
                <a:ea typeface="Heebo Light" pitchFamily="34" charset="-122"/>
                <a:cs typeface="Heebo Light" pitchFamily="34" charset="-120"/>
              </a:rPr>
              <a:t>Review before choosing</a:t>
            </a:r>
            <a:endParaRPr lang="en-US" sz="1450" dirty="0"/>
          </a:p>
        </p:txBody>
      </p:sp>
      <p:sp>
        <p:nvSpPr>
          <p:cNvPr id="34" name="Text 32"/>
          <p:cNvSpPr/>
          <p:nvPr/>
        </p:nvSpPr>
        <p:spPr>
          <a:xfrm>
            <a:off x="711182" y="5603577"/>
            <a:ext cx="11378915" cy="302220"/>
          </a:xfrm>
          <a:prstGeom prst="rect">
            <a:avLst/>
          </a:prstGeom>
          <a:noFill/>
          <a:ln/>
        </p:spPr>
        <p:txBody>
          <a:bodyPr wrap="none" lIns="0" tIns="0" rIns="0" bIns="0" rtlCol="0" anchor="t"/>
          <a:lstStyle/>
          <a:p>
            <a:pPr algn="l" indent="0" marL="0">
              <a:lnSpc>
                <a:spcPct val="117000"/>
              </a:lnSpc>
              <a:buNone/>
            </a:pPr>
            <a:r>
              <a:rPr lang="en-US" sz="1700" dirty="0">
                <a:solidFill>
                  <a:srgbClr val="DCD7E5"/>
                </a:solidFill>
                <a:latin typeface="Heebo Light" pitchFamily="34" charset="0"/>
                <a:ea typeface="Heebo Light" pitchFamily="34" charset="-122"/>
                <a:cs typeface="Heebo Light" pitchFamily="34" charset="-120"/>
              </a:rPr>
              <a:t>The goal: Turn a project idea into a team ready to build it.</a:t>
            </a:r>
            <a:endParaRPr lang="en-US" sz="17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711182" y="539941"/>
            <a:ext cx="10769331" cy="457696"/>
          </a:xfrm>
          <a:prstGeom prst="rect">
            <a:avLst/>
          </a:prstGeom>
          <a:noFill/>
          <a:ln/>
        </p:spPr>
        <p:txBody>
          <a:bodyPr wrap="none" lIns="0" tIns="0" rIns="0" bIns="0" rtlCol="0" anchor="t"/>
          <a:lstStyle/>
          <a:p>
            <a:pPr algn="l" indent="0" marL="0">
              <a:lnSpc>
                <a:spcPct val="88000"/>
              </a:lnSpc>
              <a:buNone/>
            </a:pPr>
            <a:r>
              <a:rPr lang="en-US" sz="3400" spc="-85" kern="100" dirty="0">
                <a:solidFill>
                  <a:srgbClr val="F2F0F4"/>
                </a:solidFill>
                <a:latin typeface="Montserrat SemiBold" pitchFamily="34" charset="0"/>
                <a:ea typeface="Montserrat SemiBold" pitchFamily="34" charset="-122"/>
                <a:cs typeface="Montserrat SemiBold" pitchFamily="34" charset="-120"/>
              </a:rPr>
              <a:t>Beyond matching skills. Explaining why they fit.</a:t>
            </a:r>
            <a:endParaRPr lang="en-US" sz="3400" dirty="0"/>
          </a:p>
        </p:txBody>
      </p:sp>
      <p:sp>
        <p:nvSpPr>
          <p:cNvPr id="3" name="Text 1"/>
          <p:cNvSpPr/>
          <p:nvPr/>
        </p:nvSpPr>
        <p:spPr>
          <a:xfrm>
            <a:off x="711182" y="1180326"/>
            <a:ext cx="11378915" cy="182860"/>
          </a:xfrm>
          <a:prstGeom prst="rect">
            <a:avLst/>
          </a:prstGeom>
          <a:noFill/>
          <a:ln/>
        </p:spPr>
        <p:txBody>
          <a:bodyPr wrap="none" lIns="0" tIns="0" rIns="0" bIns="0" rtlCol="0" anchor="t"/>
          <a:lstStyle/>
          <a:p>
            <a:pPr algn="l" indent="0" marL="0">
              <a:lnSpc>
                <a:spcPct val="100000"/>
              </a:lnSpc>
              <a:buNone/>
            </a:pPr>
            <a:r>
              <a:rPr lang="en-US" sz="1200" spc="96" kern="100" dirty="0">
                <a:solidFill>
                  <a:srgbClr val="B6ACCB"/>
                </a:solidFill>
                <a:latin typeface="Heebo Medium" pitchFamily="34" charset="0"/>
                <a:ea typeface="Heebo Medium" pitchFamily="34" charset="-122"/>
                <a:cs typeface="Heebo Medium" pitchFamily="34" charset="-120"/>
              </a:rPr>
              <a:t>INTENDED ARCHITECTURE</a:t>
            </a:r>
            <a:endParaRPr lang="en-US" sz="1200" dirty="0"/>
          </a:p>
        </p:txBody>
      </p:sp>
      <p:sp>
        <p:nvSpPr>
          <p:cNvPr id="4" name="Text 2"/>
          <p:cNvSpPr/>
          <p:nvPr/>
        </p:nvSpPr>
        <p:spPr>
          <a:xfrm>
            <a:off x="888978" y="1738027"/>
            <a:ext cx="2336742" cy="328116"/>
          </a:xfrm>
          <a:prstGeom prst="rect">
            <a:avLst/>
          </a:prstGeom>
          <a:noFill/>
          <a:ln/>
        </p:spPr>
        <p:txBody>
          <a:bodyPr wrap="none" lIns="0" tIns="0" rIns="0" bIns="0" rtlCol="0" anchor="t"/>
          <a:lstStyle/>
          <a:p>
            <a:pPr algn="l" indent="0" marL="0">
              <a:lnSpc>
                <a:spcPct val="113000"/>
              </a:lnSpc>
              <a:buNone/>
            </a:pPr>
            <a:r>
              <a:rPr lang="en-US" sz="1900" spc="-47" kern="100" dirty="0">
                <a:solidFill>
                  <a:srgbClr val="DCD7E5"/>
                </a:solidFill>
                <a:latin typeface="Montserrat Medium" pitchFamily="34" charset="0"/>
                <a:ea typeface="Montserrat Medium" pitchFamily="34" charset="-122"/>
                <a:cs typeface="Montserrat Medium" pitchFamily="34" charset="-120"/>
              </a:rPr>
              <a:t>Input</a:t>
            </a:r>
            <a:endParaRPr lang="en-US" sz="1900" dirty="0"/>
          </a:p>
        </p:txBody>
      </p:sp>
      <p:sp>
        <p:nvSpPr>
          <p:cNvPr id="5" name="Text 3"/>
          <p:cNvSpPr/>
          <p:nvPr/>
        </p:nvSpPr>
        <p:spPr>
          <a:xfrm>
            <a:off x="888978" y="2210098"/>
            <a:ext cx="2336742" cy="604441"/>
          </a:xfrm>
          <a:prstGeom prst="rect">
            <a:avLst/>
          </a:prstGeom>
          <a:noFill/>
          <a:ln/>
        </p:spPr>
        <p:txBody>
          <a:bodyPr wrap="square" lIns="0" tIns="0" rIns="0" bIns="0" rtlCol="0" anchor="t">
            <a:normAutofit/>
          </a:bodyPr>
          <a:lstStyle/>
          <a:p>
            <a:pPr algn="l" indent="0" marL="0">
              <a:lnSpc>
                <a:spcPct val="117000"/>
              </a:lnSpc>
              <a:buNone/>
            </a:pPr>
            <a:r>
              <a:rPr lang="en-US" sz="1700" dirty="0">
                <a:solidFill>
                  <a:srgbClr val="DCD7E5"/>
                </a:solidFill>
                <a:latin typeface="Heebo Light" pitchFamily="34" charset="0"/>
                <a:ea typeface="Heebo Light" pitchFamily="34" charset="-122"/>
                <a:cs typeface="Heebo Light" pitchFamily="34" charset="-120"/>
              </a:rPr>
              <a:t>Student profiles + project requirements</a:t>
            </a:r>
            <a:endParaRPr lang="en-US" sz="1700" dirty="0"/>
          </a:p>
        </p:txBody>
      </p:sp>
      <p:sp>
        <p:nvSpPr>
          <p:cNvPr id="6" name="Text 4"/>
          <p:cNvSpPr/>
          <p:nvPr/>
        </p:nvSpPr>
        <p:spPr>
          <a:xfrm>
            <a:off x="3581310" y="1738027"/>
            <a:ext cx="2336742" cy="656233"/>
          </a:xfrm>
          <a:prstGeom prst="rect">
            <a:avLst/>
          </a:prstGeom>
          <a:noFill/>
          <a:ln/>
        </p:spPr>
        <p:txBody>
          <a:bodyPr wrap="square" lIns="0" tIns="0" rIns="0" bIns="0" rtlCol="0" anchor="t">
            <a:normAutofit/>
          </a:bodyPr>
          <a:lstStyle/>
          <a:p>
            <a:pPr algn="l" indent="0" marL="0">
              <a:lnSpc>
                <a:spcPct val="113000"/>
              </a:lnSpc>
              <a:buNone/>
            </a:pPr>
            <a:r>
              <a:rPr lang="en-US" sz="1900" spc="-47" kern="100" dirty="0">
                <a:solidFill>
                  <a:srgbClr val="DCD7E5"/>
                </a:solidFill>
                <a:latin typeface="Montserrat Medium" pitchFamily="34" charset="0"/>
                <a:ea typeface="Montserrat Medium" pitchFamily="34" charset="-122"/>
                <a:cs typeface="Montserrat Medium" pitchFamily="34" charset="-120"/>
              </a:rPr>
              <a:t>Python Matching Engine</a:t>
            </a:r>
            <a:endParaRPr lang="en-US" sz="1900" dirty="0"/>
          </a:p>
        </p:txBody>
      </p:sp>
      <p:sp>
        <p:nvSpPr>
          <p:cNvPr id="7" name="Text 5"/>
          <p:cNvSpPr/>
          <p:nvPr/>
        </p:nvSpPr>
        <p:spPr>
          <a:xfrm>
            <a:off x="3581310" y="2538214"/>
            <a:ext cx="2336742" cy="1208881"/>
          </a:xfrm>
          <a:prstGeom prst="rect">
            <a:avLst/>
          </a:prstGeom>
          <a:noFill/>
          <a:ln/>
        </p:spPr>
        <p:txBody>
          <a:bodyPr wrap="square" lIns="0" tIns="0" rIns="0" bIns="0" rtlCol="0" anchor="t">
            <a:normAutofit/>
          </a:bodyPr>
          <a:lstStyle/>
          <a:p>
            <a:pPr algn="l" indent="0" marL="0">
              <a:lnSpc>
                <a:spcPct val="117000"/>
              </a:lnSpc>
              <a:buNone/>
            </a:pPr>
            <a:r>
              <a:rPr lang="en-US" sz="1700" dirty="0">
                <a:solidFill>
                  <a:srgbClr val="DCD7E5"/>
                </a:solidFill>
                <a:latin typeface="Heebo Light" pitchFamily="34" charset="0"/>
                <a:ea typeface="Heebo Light" pitchFamily="34" charset="-122"/>
                <a:cs typeface="Heebo Light" pitchFamily="34" charset="-120"/>
              </a:rPr>
              <a:t>Structured skill matching and compatibility calculations</a:t>
            </a:r>
            <a:endParaRPr lang="en-US" sz="1700" dirty="0"/>
          </a:p>
        </p:txBody>
      </p:sp>
      <p:sp>
        <p:nvSpPr>
          <p:cNvPr id="8" name="Shape 6"/>
          <p:cNvSpPr/>
          <p:nvPr/>
        </p:nvSpPr>
        <p:spPr>
          <a:xfrm>
            <a:off x="6095848" y="1551781"/>
            <a:ext cx="2692333" cy="2373114"/>
          </a:xfrm>
          <a:prstGeom prst="roundRect">
            <a:avLst>
              <a:gd name="adj" fmla="val 8991"/>
            </a:avLst>
          </a:prstGeom>
          <a:solidFill>
            <a:srgbClr val="18113D"/>
          </a:solidFill>
          <a:ln w="12700">
            <a:solidFill>
              <a:srgbClr val="F2F0F4">
                <a:alpha val="14000"/>
              </a:srgbClr>
            </a:solidFill>
            <a:prstDash val="solid"/>
          </a:ln>
          <a:effectLst>
            <a:outerShdw sx="100000" sy="100000" kx="0" ky="0" algn="bl" rotWithShape="0" blurRad="127" dist="11430" dir="5400000">
              <a:srgbClr val="f2f0f4">
                <a:alpha val="10000"/>
              </a:srgbClr>
            </a:outerShdw>
          </a:effectLst>
        </p:spPr>
      </p:sp>
      <p:sp>
        <p:nvSpPr>
          <p:cNvPr id="9" name="Text 7"/>
          <p:cNvSpPr/>
          <p:nvPr/>
        </p:nvSpPr>
        <p:spPr>
          <a:xfrm>
            <a:off x="6286343" y="1750727"/>
            <a:ext cx="2311342" cy="328116"/>
          </a:xfrm>
          <a:prstGeom prst="rect">
            <a:avLst/>
          </a:prstGeom>
          <a:noFill/>
          <a:ln/>
        </p:spPr>
        <p:txBody>
          <a:bodyPr wrap="none" lIns="0" tIns="0" rIns="0" bIns="0" rtlCol="0" anchor="t"/>
          <a:lstStyle/>
          <a:p>
            <a:pPr algn="l" indent="0" marL="0">
              <a:lnSpc>
                <a:spcPct val="113000"/>
              </a:lnSpc>
              <a:buNone/>
            </a:pPr>
            <a:r>
              <a:rPr lang="en-US" sz="1900" spc="-47" kern="100" dirty="0">
                <a:solidFill>
                  <a:srgbClr val="52D8FF"/>
                </a:solidFill>
                <a:latin typeface="Montserrat Medium" pitchFamily="34" charset="0"/>
                <a:ea typeface="Montserrat Medium" pitchFamily="34" charset="-122"/>
                <a:cs typeface="Montserrat Medium" pitchFamily="34" charset="-120"/>
              </a:rPr>
              <a:t>Gemma 4</a:t>
            </a:r>
            <a:endParaRPr lang="en-US" sz="1900" dirty="0"/>
          </a:p>
        </p:txBody>
      </p:sp>
      <p:sp>
        <p:nvSpPr>
          <p:cNvPr id="10" name="Text 8"/>
          <p:cNvSpPr/>
          <p:nvPr/>
        </p:nvSpPr>
        <p:spPr>
          <a:xfrm>
            <a:off x="6286343" y="2222798"/>
            <a:ext cx="2311342" cy="604441"/>
          </a:xfrm>
          <a:prstGeom prst="rect">
            <a:avLst/>
          </a:prstGeom>
          <a:noFill/>
          <a:ln/>
        </p:spPr>
        <p:txBody>
          <a:bodyPr wrap="square" lIns="0" tIns="0" rIns="0" bIns="0" rtlCol="0" anchor="t">
            <a:normAutofit/>
          </a:bodyPr>
          <a:lstStyle/>
          <a:p>
            <a:pPr algn="l" indent="0" marL="0">
              <a:lnSpc>
                <a:spcPct val="117000"/>
              </a:lnSpc>
              <a:buNone/>
            </a:pPr>
            <a:r>
              <a:rPr lang="en-US" sz="1700" dirty="0">
                <a:solidFill>
                  <a:srgbClr val="DCD7E5"/>
                </a:solidFill>
                <a:latin typeface="Heebo Light" pitchFamily="34" charset="0"/>
                <a:ea typeface="Heebo Light" pitchFamily="34" charset="-122"/>
                <a:cs typeface="Heebo Light" pitchFamily="34" charset="-120"/>
              </a:rPr>
              <a:t>Contextual explanations and role suggestions</a:t>
            </a:r>
            <a:endParaRPr lang="en-US" sz="1700" dirty="0"/>
          </a:p>
        </p:txBody>
      </p:sp>
      <p:sp>
        <p:nvSpPr>
          <p:cNvPr id="11" name="Text 9"/>
          <p:cNvSpPr/>
          <p:nvPr/>
        </p:nvSpPr>
        <p:spPr>
          <a:xfrm>
            <a:off x="8965976" y="1738027"/>
            <a:ext cx="2336742" cy="328116"/>
          </a:xfrm>
          <a:prstGeom prst="rect">
            <a:avLst/>
          </a:prstGeom>
          <a:noFill/>
          <a:ln/>
        </p:spPr>
        <p:txBody>
          <a:bodyPr wrap="none" lIns="0" tIns="0" rIns="0" bIns="0" rtlCol="0" anchor="t"/>
          <a:lstStyle/>
          <a:p>
            <a:pPr algn="l" indent="0" marL="0">
              <a:lnSpc>
                <a:spcPct val="113000"/>
              </a:lnSpc>
              <a:buNone/>
            </a:pPr>
            <a:r>
              <a:rPr lang="en-US" sz="1900" spc="-47" kern="100" dirty="0">
                <a:solidFill>
                  <a:srgbClr val="DCD7E5"/>
                </a:solidFill>
                <a:latin typeface="Montserrat Medium" pitchFamily="34" charset="0"/>
                <a:ea typeface="Montserrat Medium" pitchFamily="34" charset="-122"/>
                <a:cs typeface="Montserrat Medium" pitchFamily="34" charset="-120"/>
              </a:rPr>
              <a:t>Output</a:t>
            </a:r>
            <a:endParaRPr lang="en-US" sz="1900" dirty="0"/>
          </a:p>
        </p:txBody>
      </p:sp>
      <p:sp>
        <p:nvSpPr>
          <p:cNvPr id="12" name="Text 10"/>
          <p:cNvSpPr/>
          <p:nvPr/>
        </p:nvSpPr>
        <p:spPr>
          <a:xfrm>
            <a:off x="8965976" y="2210098"/>
            <a:ext cx="2336742" cy="906661"/>
          </a:xfrm>
          <a:prstGeom prst="rect">
            <a:avLst/>
          </a:prstGeom>
          <a:noFill/>
          <a:ln/>
        </p:spPr>
        <p:txBody>
          <a:bodyPr wrap="square" lIns="0" tIns="0" rIns="0" bIns="0" rtlCol="0" anchor="t">
            <a:normAutofit/>
          </a:bodyPr>
          <a:lstStyle/>
          <a:p>
            <a:pPr algn="l" indent="0" marL="0">
              <a:lnSpc>
                <a:spcPct val="117000"/>
              </a:lnSpc>
              <a:buNone/>
            </a:pPr>
            <a:r>
              <a:rPr lang="en-US" sz="1700" dirty="0">
                <a:solidFill>
                  <a:srgbClr val="DCD7E5"/>
                </a:solidFill>
                <a:latin typeface="Heebo Light" pitchFamily="34" charset="0"/>
                <a:ea typeface="Heebo Light" pitchFamily="34" charset="-122"/>
                <a:cs typeface="Heebo Light" pitchFamily="34" charset="-120"/>
              </a:rPr>
              <a:t>Understandable teammate recommendations</a:t>
            </a:r>
            <a:endParaRPr lang="en-US" sz="1700" dirty="0"/>
          </a:p>
        </p:txBody>
      </p:sp>
      <p:sp>
        <p:nvSpPr>
          <p:cNvPr id="13" name="Text 11"/>
          <p:cNvSpPr/>
          <p:nvPr/>
        </p:nvSpPr>
        <p:spPr>
          <a:xfrm>
            <a:off x="711182" y="4115395"/>
            <a:ext cx="11378915" cy="314920"/>
          </a:xfrm>
          <a:prstGeom prst="rect">
            <a:avLst/>
          </a:prstGeom>
          <a:noFill/>
          <a:ln/>
        </p:spPr>
        <p:txBody>
          <a:bodyPr wrap="none" lIns="0" tIns="0" rIns="0" bIns="0" rtlCol="0" anchor="t"/>
          <a:lstStyle/>
          <a:p>
            <a:pPr algn="l" indent="0" marL="0">
              <a:lnSpc>
                <a:spcPct val="117000"/>
              </a:lnSpc>
              <a:buNone/>
            </a:pPr>
            <a:r>
              <a:rPr lang="en-US" sz="1700" dirty="0">
                <a:solidFill>
                  <a:srgbClr val="DCD7E5"/>
                </a:solidFill>
                <a:latin typeface="Heebo Light" pitchFamily="34" charset="0"/>
                <a:ea typeface="Heebo Light" pitchFamily="34" charset="-122"/>
                <a:cs typeface="Heebo Light" pitchFamily="34" charset="-120"/>
              </a:rPr>
              <a:t>Model: </a:t>
            </a:r>
            <a:pPr algn="l" indent="0" marL="0">
              <a:lnSpc>
                <a:spcPct val="117000"/>
              </a:lnSpc>
              <a:buNone/>
            </a:pPr>
            <a:r>
              <a:rPr lang="en-US" sz="1700" dirty="0">
                <a:solidFill>
                  <a:srgbClr val="DCD7E5"/>
                </a:solidFill>
                <a:highlight>
                  <a:srgbClr val="18113D"/>
                </a:highlight>
                <a:latin typeface="Consolas" pitchFamily="34" charset="0"/>
                <a:ea typeface="Consolas" pitchFamily="34" charset="-122"/>
                <a:cs typeface="Consolas" pitchFamily="34" charset="-120"/>
              </a:rPr>
              <a:t>gemma-4-26b-a4b-it</a:t>
            </a:r>
            <a:endParaRPr lang="en-US" sz="1700" dirty="0"/>
          </a:p>
        </p:txBody>
      </p:sp>
      <p:sp>
        <p:nvSpPr>
          <p:cNvPr id="14" name="Text 12"/>
          <p:cNvSpPr/>
          <p:nvPr/>
        </p:nvSpPr>
        <p:spPr>
          <a:xfrm>
            <a:off x="711182" y="4629261"/>
            <a:ext cx="3386549" cy="328116"/>
          </a:xfrm>
          <a:prstGeom prst="rect">
            <a:avLst/>
          </a:prstGeom>
          <a:noFill/>
          <a:ln/>
        </p:spPr>
        <p:txBody>
          <a:bodyPr wrap="none" lIns="0" tIns="0" rIns="0" bIns="0" rtlCol="0" anchor="t"/>
          <a:lstStyle/>
          <a:p>
            <a:pPr algn="l" indent="0" marL="0">
              <a:lnSpc>
                <a:spcPct val="113000"/>
              </a:lnSpc>
              <a:buNone/>
            </a:pPr>
            <a:r>
              <a:rPr lang="en-US" sz="1900" spc="-47" kern="100" dirty="0">
                <a:solidFill>
                  <a:srgbClr val="DCD7E5"/>
                </a:solidFill>
                <a:latin typeface="Montserrat Medium" pitchFamily="34" charset="0"/>
                <a:ea typeface="Montserrat Medium" pitchFamily="34" charset="-122"/>
                <a:cs typeface="Montserrat Medium" pitchFamily="34" charset="-120"/>
              </a:rPr>
              <a:t>Match explanations</a:t>
            </a:r>
            <a:endParaRPr lang="en-US" sz="1900" dirty="0"/>
          </a:p>
        </p:txBody>
      </p:sp>
      <p:sp>
        <p:nvSpPr>
          <p:cNvPr id="15" name="Text 13"/>
          <p:cNvSpPr/>
          <p:nvPr/>
        </p:nvSpPr>
        <p:spPr>
          <a:xfrm>
            <a:off x="711182" y="5101332"/>
            <a:ext cx="3386549" cy="515541"/>
          </a:xfrm>
          <a:prstGeom prst="rect">
            <a:avLst/>
          </a:prstGeom>
          <a:noFill/>
          <a:ln/>
        </p:spPr>
        <p:txBody>
          <a:bodyPr wrap="square" lIns="0" tIns="0" rIns="0" bIns="0" rtlCol="0" anchor="t">
            <a:normAutofit/>
          </a:bodyPr>
          <a:lstStyle/>
          <a:p>
            <a:pPr algn="l" indent="0" marL="0">
              <a:lnSpc>
                <a:spcPct val="117000"/>
              </a:lnSpc>
              <a:buNone/>
            </a:pPr>
            <a:r>
              <a:rPr lang="en-US" sz="1450" dirty="0">
                <a:solidFill>
                  <a:srgbClr val="DCD7E5"/>
                </a:solidFill>
                <a:latin typeface="Heebo Light" pitchFamily="34" charset="0"/>
                <a:ea typeface="Heebo Light" pitchFamily="34" charset="-122"/>
                <a:cs typeface="Heebo Light" pitchFamily="34" charset="-120"/>
              </a:rPr>
              <a:t>Why listed skills are relevant to the project.</a:t>
            </a:r>
            <a:endParaRPr lang="en-US" sz="1450" dirty="0"/>
          </a:p>
        </p:txBody>
      </p:sp>
      <p:sp>
        <p:nvSpPr>
          <p:cNvPr id="16" name="Text 14"/>
          <p:cNvSpPr/>
          <p:nvPr/>
        </p:nvSpPr>
        <p:spPr>
          <a:xfrm>
            <a:off x="4402523" y="4629261"/>
            <a:ext cx="3386549" cy="328116"/>
          </a:xfrm>
          <a:prstGeom prst="rect">
            <a:avLst/>
          </a:prstGeom>
          <a:noFill/>
          <a:ln/>
        </p:spPr>
        <p:txBody>
          <a:bodyPr wrap="none" lIns="0" tIns="0" rIns="0" bIns="0" rtlCol="0" anchor="t"/>
          <a:lstStyle/>
          <a:p>
            <a:pPr algn="l" indent="0" marL="0">
              <a:lnSpc>
                <a:spcPct val="113000"/>
              </a:lnSpc>
              <a:buNone/>
            </a:pPr>
            <a:r>
              <a:rPr lang="en-US" sz="1900" spc="-47" kern="100" dirty="0">
                <a:solidFill>
                  <a:srgbClr val="DCD7E5"/>
                </a:solidFill>
                <a:latin typeface="Montserrat Medium" pitchFamily="34" charset="0"/>
                <a:ea typeface="Montserrat Medium" pitchFamily="34" charset="-122"/>
                <a:cs typeface="Montserrat Medium" pitchFamily="34" charset="-120"/>
              </a:rPr>
              <a:t>Role suggestions</a:t>
            </a:r>
            <a:endParaRPr lang="en-US" sz="1900" dirty="0"/>
          </a:p>
        </p:txBody>
      </p:sp>
      <p:sp>
        <p:nvSpPr>
          <p:cNvPr id="17" name="Text 15"/>
          <p:cNvSpPr/>
          <p:nvPr/>
        </p:nvSpPr>
        <p:spPr>
          <a:xfrm>
            <a:off x="4402523" y="5101332"/>
            <a:ext cx="3386549" cy="515541"/>
          </a:xfrm>
          <a:prstGeom prst="rect">
            <a:avLst/>
          </a:prstGeom>
          <a:noFill/>
          <a:ln/>
        </p:spPr>
        <p:txBody>
          <a:bodyPr wrap="square" lIns="0" tIns="0" rIns="0" bIns="0" rtlCol="0" anchor="t">
            <a:normAutofit/>
          </a:bodyPr>
          <a:lstStyle/>
          <a:p>
            <a:pPr algn="l" indent="0" marL="0">
              <a:lnSpc>
                <a:spcPct val="117000"/>
              </a:lnSpc>
              <a:buNone/>
            </a:pPr>
            <a:r>
              <a:rPr lang="en-US" sz="1450" dirty="0">
                <a:solidFill>
                  <a:srgbClr val="DCD7E5"/>
                </a:solidFill>
                <a:latin typeface="Heebo Light" pitchFamily="34" charset="0"/>
                <a:ea typeface="Heebo Light" pitchFamily="34" charset="-122"/>
                <a:cs typeface="Heebo Light" pitchFamily="34" charset="-120"/>
              </a:rPr>
              <a:t>Responsibilities based on documented skills and interests.</a:t>
            </a:r>
            <a:endParaRPr lang="en-US" sz="1450" dirty="0"/>
          </a:p>
        </p:txBody>
      </p:sp>
      <p:sp>
        <p:nvSpPr>
          <p:cNvPr id="18" name="Text 16"/>
          <p:cNvSpPr/>
          <p:nvPr/>
        </p:nvSpPr>
        <p:spPr>
          <a:xfrm>
            <a:off x="8093865" y="4629261"/>
            <a:ext cx="3386549" cy="328116"/>
          </a:xfrm>
          <a:prstGeom prst="rect">
            <a:avLst/>
          </a:prstGeom>
          <a:noFill/>
          <a:ln/>
        </p:spPr>
        <p:txBody>
          <a:bodyPr wrap="none" lIns="0" tIns="0" rIns="0" bIns="0" rtlCol="0" anchor="t"/>
          <a:lstStyle/>
          <a:p>
            <a:pPr algn="l" indent="0" marL="0">
              <a:lnSpc>
                <a:spcPct val="113000"/>
              </a:lnSpc>
              <a:buNone/>
            </a:pPr>
            <a:r>
              <a:rPr lang="en-US" sz="1900" spc="-47" kern="100" dirty="0">
                <a:solidFill>
                  <a:srgbClr val="DCD7E5"/>
                </a:solidFill>
                <a:latin typeface="Montserrat Medium" pitchFamily="34" charset="0"/>
                <a:ea typeface="Montserrat Medium" pitchFamily="34" charset="-122"/>
                <a:cs typeface="Montserrat Medium" pitchFamily="34" charset="-120"/>
              </a:rPr>
              <a:t>Skill-gap insights</a:t>
            </a:r>
            <a:endParaRPr lang="en-US" sz="1900" dirty="0"/>
          </a:p>
        </p:txBody>
      </p:sp>
      <p:sp>
        <p:nvSpPr>
          <p:cNvPr id="19" name="Text 17"/>
          <p:cNvSpPr/>
          <p:nvPr/>
        </p:nvSpPr>
        <p:spPr>
          <a:xfrm>
            <a:off x="8093865" y="5101332"/>
            <a:ext cx="3386549" cy="515541"/>
          </a:xfrm>
          <a:prstGeom prst="rect">
            <a:avLst/>
          </a:prstGeom>
          <a:noFill/>
          <a:ln/>
        </p:spPr>
        <p:txBody>
          <a:bodyPr wrap="square" lIns="0" tIns="0" rIns="0" bIns="0" rtlCol="0" anchor="t">
            <a:normAutofit/>
          </a:bodyPr>
          <a:lstStyle/>
          <a:p>
            <a:pPr algn="l" indent="0" marL="0">
              <a:lnSpc>
                <a:spcPct val="117000"/>
              </a:lnSpc>
              <a:buNone/>
            </a:pPr>
            <a:r>
              <a:rPr lang="en-US" sz="1450" dirty="0">
                <a:solidFill>
                  <a:srgbClr val="DCD7E5"/>
                </a:solidFill>
                <a:latin typeface="Heebo Light" pitchFamily="34" charset="0"/>
                <a:ea typeface="Heebo Light" pitchFamily="34" charset="-122"/>
                <a:cs typeface="Heebo Light" pitchFamily="34" charset="-120"/>
              </a:rPr>
              <a:t>Requirements that appear to remain uncovered.</a:t>
            </a:r>
            <a:endParaRPr lang="en-US" sz="1450" dirty="0"/>
          </a:p>
        </p:txBody>
      </p:sp>
      <p:sp>
        <p:nvSpPr>
          <p:cNvPr id="20" name="Text 18"/>
          <p:cNvSpPr/>
          <p:nvPr/>
        </p:nvSpPr>
        <p:spPr>
          <a:xfrm>
            <a:off x="711182" y="5807373"/>
            <a:ext cx="10769331" cy="712391"/>
          </a:xfrm>
          <a:prstGeom prst="rect">
            <a:avLst/>
          </a:prstGeom>
          <a:noFill/>
          <a:ln/>
        </p:spPr>
        <p:txBody>
          <a:bodyPr wrap="square" lIns="0" tIns="0" rIns="0" bIns="0" rtlCol="0" anchor="t"/>
          <a:lstStyle/>
          <a:p>
            <a:pPr algn="l" indent="0" marL="0">
              <a:lnSpc>
                <a:spcPct val="117000"/>
              </a:lnSpc>
              <a:spcAft>
                <a:spcPts val="1450"/>
              </a:spcAft>
              <a:buNone/>
            </a:pPr>
            <a:r>
              <a:rPr lang="en-US" sz="1450" dirty="0">
                <a:solidFill>
                  <a:srgbClr val="DCD7E5"/>
                </a:solidFill>
                <a:latin typeface="Heebo Light" pitchFamily="34" charset="0"/>
                <a:ea typeface="Heebo Light" pitchFamily="34" charset="-122"/>
                <a:cs typeface="Heebo Light" pitchFamily="34" charset="-120"/>
              </a:rPr>
              <a:t>Python-based logic evaluates structured compatibility. Gemma 4 adds contextual explanations and AI-assisted recommendations.</a:t>
            </a:r>
            <a:endParaRPr lang="en-US" sz="1450" dirty="0"/>
          </a:p>
          <a:p>
            <a:pPr algn="l" indent="0" marL="0">
              <a:lnSpc>
                <a:spcPct val="117000"/>
              </a:lnSpc>
              <a:buNone/>
            </a:pPr>
            <a:r>
              <a:rPr lang="en-US" sz="1450" dirty="0">
                <a:solidFill>
                  <a:srgbClr val="DCD7E5"/>
                </a:solidFill>
                <a:latin typeface="Heebo Light" pitchFamily="34" charset="0"/>
                <a:ea typeface="Heebo Light" pitchFamily="34" charset="-122"/>
                <a:cs typeface="Heebo Light" pitchFamily="34" charset="-120"/>
              </a:rPr>
              <a:t>Recommendations support student decisions; they do not guarantee project success. </a:t>
            </a:r>
            <a:pPr algn="l" indent="0" marL="0">
              <a:lnSpc>
                <a:spcPct val="117000"/>
              </a:lnSpc>
              <a:buNone/>
            </a:pPr>
            <a:r>
              <a:rPr lang="en-US" sz="1450" dirty="0">
                <a:solidFill>
                  <a:srgbClr val="000000"/>
                </a:solidFill>
                <a:latin typeface="Noto Color Emoji" pitchFamily="34" charset="0"/>
                <a:ea typeface="Noto Color Emoji" pitchFamily="34" charset="-122"/>
                <a:cs typeface="Noto Color Emoji" pitchFamily="34" charset="-120"/>
              </a:rPr>
              <a:t>🙂</a:t>
            </a:r>
            <a:endParaRPr lang="en-US" sz="14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765156" y="489141"/>
            <a:ext cx="10661383" cy="915392"/>
          </a:xfrm>
          <a:prstGeom prst="rect">
            <a:avLst/>
          </a:prstGeom>
          <a:noFill/>
          <a:ln/>
        </p:spPr>
        <p:txBody>
          <a:bodyPr wrap="square" lIns="0" tIns="0" rIns="0" bIns="0" rtlCol="0" anchor="t">
            <a:normAutofit/>
          </a:bodyPr>
          <a:lstStyle/>
          <a:p>
            <a:pPr algn="l" indent="0" marL="0">
              <a:lnSpc>
                <a:spcPct val="88000"/>
              </a:lnSpc>
              <a:buNone/>
            </a:pPr>
            <a:r>
              <a:rPr lang="en-US" sz="3400" spc="-85" kern="100" dirty="0">
                <a:solidFill>
                  <a:srgbClr val="F2F0F4"/>
                </a:solidFill>
                <a:latin typeface="Montserrat SemiBold" pitchFamily="34" charset="0"/>
                <a:ea typeface="Montserrat SemiBold" pitchFamily="34" charset="-122"/>
                <a:cs typeface="Montserrat SemiBold" pitchFamily="34" charset="-120"/>
              </a:rPr>
              <a:t>One project. Complementary skills. A stronger starting point.</a:t>
            </a:r>
            <a:endParaRPr lang="en-US" sz="3400" dirty="0"/>
          </a:p>
        </p:txBody>
      </p:sp>
      <p:sp>
        <p:nvSpPr>
          <p:cNvPr id="3" name="Text 1"/>
          <p:cNvSpPr/>
          <p:nvPr/>
        </p:nvSpPr>
        <p:spPr>
          <a:xfrm>
            <a:off x="765156" y="1587222"/>
            <a:ext cx="11270968" cy="182860"/>
          </a:xfrm>
          <a:prstGeom prst="rect">
            <a:avLst/>
          </a:prstGeom>
          <a:noFill/>
          <a:ln/>
        </p:spPr>
        <p:txBody>
          <a:bodyPr wrap="none" lIns="0" tIns="0" rIns="0" bIns="0" rtlCol="0" anchor="t"/>
          <a:lstStyle/>
          <a:p>
            <a:pPr algn="l" indent="0" marL="0">
              <a:lnSpc>
                <a:spcPct val="100000"/>
              </a:lnSpc>
              <a:buNone/>
            </a:pPr>
            <a:r>
              <a:rPr lang="en-US" sz="1200" spc="96" kern="100" dirty="0">
                <a:solidFill>
                  <a:srgbClr val="B6ACCB"/>
                </a:solidFill>
                <a:latin typeface="Heebo Medium" pitchFamily="34" charset="0"/>
                <a:ea typeface="Heebo Medium" pitchFamily="34" charset="-122"/>
                <a:cs typeface="Heebo Medium" pitchFamily="34" charset="-120"/>
              </a:rPr>
              <a:t>ILLUSTRATIVE DEMO SCENARIO · CONCEPT MOCKUP</a:t>
            </a:r>
            <a:endParaRPr lang="en-US" sz="1200" dirty="0"/>
          </a:p>
        </p:txBody>
      </p:sp>
      <p:sp>
        <p:nvSpPr>
          <p:cNvPr id="4" name="Shape 2"/>
          <p:cNvSpPr/>
          <p:nvPr/>
        </p:nvSpPr>
        <p:spPr>
          <a:xfrm>
            <a:off x="3555911" y="2819400"/>
            <a:ext cx="1168371" cy="635000"/>
          </a:xfrm>
          <a:prstGeom prst="line">
            <a:avLst/>
          </a:prstGeom>
          <a:solidFill>
            <a:srgbClr val="9857F9"/>
          </a:solidFill>
          <a:ln w="12700">
            <a:solidFill>
              <a:srgbClr val="52D8FF"/>
            </a:solidFill>
            <a:prstDash val="solid"/>
          </a:ln>
        </p:spPr>
      </p:sp>
      <p:sp>
        <p:nvSpPr>
          <p:cNvPr id="5" name="Shape 3"/>
          <p:cNvSpPr/>
          <p:nvPr/>
        </p:nvSpPr>
        <p:spPr>
          <a:xfrm flipV="1">
            <a:off x="3555911" y="3962400"/>
            <a:ext cx="1168371" cy="558800"/>
          </a:xfrm>
          <a:prstGeom prst="line">
            <a:avLst/>
          </a:prstGeom>
          <a:solidFill>
            <a:srgbClr val="9857F9"/>
          </a:solidFill>
          <a:ln w="12700">
            <a:solidFill>
              <a:srgbClr val="52D8FF"/>
            </a:solidFill>
            <a:prstDash val="solid"/>
          </a:ln>
        </p:spPr>
      </p:sp>
      <p:sp>
        <p:nvSpPr>
          <p:cNvPr id="6" name="Shape 4"/>
          <p:cNvSpPr/>
          <p:nvPr/>
        </p:nvSpPr>
        <p:spPr>
          <a:xfrm flipV="1">
            <a:off x="7467413" y="2819400"/>
            <a:ext cx="1168371" cy="635000"/>
          </a:xfrm>
          <a:prstGeom prst="line">
            <a:avLst/>
          </a:prstGeom>
          <a:solidFill>
            <a:srgbClr val="9857F9"/>
          </a:solidFill>
          <a:ln w="12700">
            <a:solidFill>
              <a:srgbClr val="6157FF"/>
            </a:solidFill>
            <a:prstDash val="solid"/>
          </a:ln>
        </p:spPr>
      </p:sp>
      <p:sp>
        <p:nvSpPr>
          <p:cNvPr id="7" name="Shape 5"/>
          <p:cNvSpPr/>
          <p:nvPr/>
        </p:nvSpPr>
        <p:spPr>
          <a:xfrm>
            <a:off x="7467413" y="3962400"/>
            <a:ext cx="1168371" cy="558800"/>
          </a:xfrm>
          <a:prstGeom prst="line">
            <a:avLst/>
          </a:prstGeom>
          <a:solidFill>
            <a:srgbClr val="9857F9"/>
          </a:solidFill>
          <a:ln w="12700">
            <a:solidFill>
              <a:srgbClr val="6157FF"/>
            </a:solidFill>
            <a:prstDash val="solid"/>
          </a:ln>
        </p:spPr>
      </p:sp>
      <p:sp>
        <p:nvSpPr>
          <p:cNvPr id="8" name="Shape 6"/>
          <p:cNvSpPr/>
          <p:nvPr/>
        </p:nvSpPr>
        <p:spPr>
          <a:xfrm>
            <a:off x="711182" y="2133600"/>
            <a:ext cx="3047924" cy="1189137"/>
          </a:xfrm>
          <a:prstGeom prst="roundRect">
            <a:avLst>
              <a:gd name="adj" fmla="val 17942"/>
            </a:avLst>
          </a:prstGeom>
          <a:solidFill>
            <a:srgbClr val="18113D"/>
          </a:solidFill>
          <a:ln/>
        </p:spPr>
      </p:sp>
      <p:sp>
        <p:nvSpPr>
          <p:cNvPr id="9" name="Text 7"/>
          <p:cNvSpPr/>
          <p:nvPr/>
        </p:nvSpPr>
        <p:spPr>
          <a:xfrm>
            <a:off x="914377" y="2345246"/>
            <a:ext cx="2641534" cy="328116"/>
          </a:xfrm>
          <a:prstGeom prst="rect">
            <a:avLst/>
          </a:prstGeom>
          <a:noFill/>
          <a:ln/>
        </p:spPr>
        <p:txBody>
          <a:bodyPr wrap="none" lIns="0" tIns="0" rIns="0" bIns="0" rtlCol="0" anchor="t"/>
          <a:lstStyle/>
          <a:p>
            <a:pPr algn="l" indent="0" marL="0">
              <a:lnSpc>
                <a:spcPct val="113000"/>
              </a:lnSpc>
              <a:buNone/>
            </a:pPr>
            <a:r>
              <a:rPr lang="en-US" sz="1900" spc="-47" kern="100" dirty="0">
                <a:solidFill>
                  <a:srgbClr val="DCD7E5"/>
                </a:solidFill>
                <a:latin typeface="Montserrat Medium" pitchFamily="34" charset="0"/>
                <a:ea typeface="Montserrat Medium" pitchFamily="34" charset="-122"/>
                <a:cs typeface="Montserrat Medium" pitchFamily="34" charset="-120"/>
              </a:rPr>
              <a:t>Aarav, ML Developer</a:t>
            </a:r>
            <a:endParaRPr lang="en-US" sz="1900" dirty="0"/>
          </a:p>
        </p:txBody>
      </p:sp>
      <p:sp>
        <p:nvSpPr>
          <p:cNvPr id="10" name="Text 8"/>
          <p:cNvSpPr/>
          <p:nvPr/>
        </p:nvSpPr>
        <p:spPr>
          <a:xfrm>
            <a:off x="914377" y="2817316"/>
            <a:ext cx="3251119" cy="302220"/>
          </a:xfrm>
          <a:prstGeom prst="rect">
            <a:avLst/>
          </a:prstGeom>
          <a:noFill/>
          <a:ln/>
        </p:spPr>
        <p:txBody>
          <a:bodyPr wrap="none" lIns="0" tIns="0" rIns="0" bIns="0" rtlCol="0" anchor="t"/>
          <a:lstStyle/>
          <a:p>
            <a:pPr algn="l" indent="0" marL="0">
              <a:lnSpc>
                <a:spcPct val="117000"/>
              </a:lnSpc>
              <a:buNone/>
            </a:pPr>
            <a:r>
              <a:rPr lang="en-US" sz="1700" dirty="0">
                <a:solidFill>
                  <a:srgbClr val="DCD7E5"/>
                </a:solidFill>
                <a:latin typeface="Heebo Light" pitchFamily="34" charset="0"/>
                <a:ea typeface="Heebo Light" pitchFamily="34" charset="-122"/>
                <a:cs typeface="Heebo Light" pitchFamily="34" charset="-120"/>
              </a:rPr>
              <a:t>Python, Machine Learning</a:t>
            </a:r>
            <a:endParaRPr lang="en-US" sz="1700" dirty="0"/>
          </a:p>
        </p:txBody>
      </p:sp>
      <p:sp>
        <p:nvSpPr>
          <p:cNvPr id="11" name="Shape 9"/>
          <p:cNvSpPr/>
          <p:nvPr/>
        </p:nvSpPr>
        <p:spPr>
          <a:xfrm>
            <a:off x="711182" y="3860800"/>
            <a:ext cx="3047924" cy="1819473"/>
          </a:xfrm>
          <a:prstGeom prst="roundRect">
            <a:avLst>
              <a:gd name="adj" fmla="val 11726"/>
            </a:avLst>
          </a:prstGeom>
          <a:solidFill>
            <a:srgbClr val="18113D"/>
          </a:solidFill>
          <a:ln/>
        </p:spPr>
      </p:sp>
      <p:sp>
        <p:nvSpPr>
          <p:cNvPr id="12" name="Text 10"/>
          <p:cNvSpPr/>
          <p:nvPr/>
        </p:nvSpPr>
        <p:spPr>
          <a:xfrm>
            <a:off x="914377" y="4072446"/>
            <a:ext cx="2641534" cy="656233"/>
          </a:xfrm>
          <a:prstGeom prst="rect">
            <a:avLst/>
          </a:prstGeom>
          <a:noFill/>
          <a:ln/>
        </p:spPr>
        <p:txBody>
          <a:bodyPr wrap="square" lIns="0" tIns="0" rIns="0" bIns="0" rtlCol="0" anchor="t">
            <a:normAutofit/>
          </a:bodyPr>
          <a:lstStyle/>
          <a:p>
            <a:pPr algn="l" indent="0" marL="0">
              <a:lnSpc>
                <a:spcPct val="113000"/>
              </a:lnSpc>
              <a:buNone/>
            </a:pPr>
            <a:r>
              <a:rPr lang="en-US" sz="1900" spc="-47" kern="100" dirty="0">
                <a:solidFill>
                  <a:srgbClr val="DCD7E5"/>
                </a:solidFill>
                <a:latin typeface="Montserrat Medium" pitchFamily="34" charset="0"/>
                <a:ea typeface="Montserrat Medium" pitchFamily="34" charset="-122"/>
                <a:cs typeface="Montserrat Medium" pitchFamily="34" charset="-120"/>
              </a:rPr>
              <a:t>Priya, Mobile Developer</a:t>
            </a:r>
            <a:endParaRPr lang="en-US" sz="1900" dirty="0"/>
          </a:p>
        </p:txBody>
      </p:sp>
      <p:sp>
        <p:nvSpPr>
          <p:cNvPr id="13" name="Text 11"/>
          <p:cNvSpPr/>
          <p:nvPr/>
        </p:nvSpPr>
        <p:spPr>
          <a:xfrm>
            <a:off x="914377" y="4872633"/>
            <a:ext cx="2641534" cy="604441"/>
          </a:xfrm>
          <a:prstGeom prst="rect">
            <a:avLst/>
          </a:prstGeom>
          <a:noFill/>
          <a:ln/>
        </p:spPr>
        <p:txBody>
          <a:bodyPr wrap="square" lIns="0" tIns="0" rIns="0" bIns="0" rtlCol="0" anchor="t">
            <a:normAutofit/>
          </a:bodyPr>
          <a:lstStyle/>
          <a:p>
            <a:pPr algn="l" indent="0" marL="0">
              <a:lnSpc>
                <a:spcPct val="117000"/>
              </a:lnSpc>
              <a:buNone/>
            </a:pPr>
            <a:r>
              <a:rPr lang="en-US" sz="1700" dirty="0">
                <a:solidFill>
                  <a:srgbClr val="DCD7E5"/>
                </a:solidFill>
                <a:latin typeface="Heebo Light" pitchFamily="34" charset="0"/>
                <a:ea typeface="Heebo Light" pitchFamily="34" charset="-122"/>
                <a:cs typeface="Heebo Light" pitchFamily="34" charset="-120"/>
              </a:rPr>
              <a:t>Flutter, Dart, UI Development</a:t>
            </a:r>
            <a:endParaRPr lang="en-US" sz="1700" dirty="0"/>
          </a:p>
        </p:txBody>
      </p:sp>
      <p:sp>
        <p:nvSpPr>
          <p:cNvPr id="14" name="Shape 12"/>
          <p:cNvSpPr/>
          <p:nvPr/>
        </p:nvSpPr>
        <p:spPr>
          <a:xfrm>
            <a:off x="8432589" y="2133600"/>
            <a:ext cx="3047924" cy="1819473"/>
          </a:xfrm>
          <a:prstGeom prst="roundRect">
            <a:avLst>
              <a:gd name="adj" fmla="val 11726"/>
            </a:avLst>
          </a:prstGeom>
          <a:solidFill>
            <a:srgbClr val="18113D"/>
          </a:solidFill>
          <a:ln/>
        </p:spPr>
      </p:sp>
      <p:sp>
        <p:nvSpPr>
          <p:cNvPr id="15" name="Text 13"/>
          <p:cNvSpPr/>
          <p:nvPr/>
        </p:nvSpPr>
        <p:spPr>
          <a:xfrm>
            <a:off x="8635784" y="2345246"/>
            <a:ext cx="2641534" cy="656233"/>
          </a:xfrm>
          <a:prstGeom prst="rect">
            <a:avLst/>
          </a:prstGeom>
          <a:noFill/>
          <a:ln/>
        </p:spPr>
        <p:txBody>
          <a:bodyPr wrap="square" lIns="0" tIns="0" rIns="0" bIns="0" rtlCol="0" anchor="t">
            <a:normAutofit/>
          </a:bodyPr>
          <a:lstStyle/>
          <a:p>
            <a:pPr algn="l" indent="0" marL="0">
              <a:lnSpc>
                <a:spcPct val="113000"/>
              </a:lnSpc>
              <a:buNone/>
            </a:pPr>
            <a:r>
              <a:rPr lang="en-US" sz="1900" spc="-47" kern="100" dirty="0">
                <a:solidFill>
                  <a:srgbClr val="DCD7E5"/>
                </a:solidFill>
                <a:latin typeface="Montserrat Medium" pitchFamily="34" charset="0"/>
                <a:ea typeface="Montserrat Medium" pitchFamily="34" charset="-122"/>
                <a:cs typeface="Montserrat Medium" pitchFamily="34" charset="-120"/>
              </a:rPr>
              <a:t>Rohan, Backend Developer</a:t>
            </a:r>
            <a:endParaRPr lang="en-US" sz="1900" dirty="0"/>
          </a:p>
        </p:txBody>
      </p:sp>
      <p:sp>
        <p:nvSpPr>
          <p:cNvPr id="16" name="Text 14"/>
          <p:cNvSpPr/>
          <p:nvPr/>
        </p:nvSpPr>
        <p:spPr>
          <a:xfrm>
            <a:off x="8635784" y="3145433"/>
            <a:ext cx="2641534" cy="604441"/>
          </a:xfrm>
          <a:prstGeom prst="rect">
            <a:avLst/>
          </a:prstGeom>
          <a:noFill/>
          <a:ln/>
        </p:spPr>
        <p:txBody>
          <a:bodyPr wrap="square" lIns="0" tIns="0" rIns="0" bIns="0" rtlCol="0" anchor="t">
            <a:normAutofit/>
          </a:bodyPr>
          <a:lstStyle/>
          <a:p>
            <a:pPr algn="l" indent="0" marL="0">
              <a:lnSpc>
                <a:spcPct val="117000"/>
              </a:lnSpc>
              <a:buNone/>
            </a:pPr>
            <a:r>
              <a:rPr lang="en-US" sz="1700" dirty="0">
                <a:solidFill>
                  <a:srgbClr val="DCD7E5"/>
                </a:solidFill>
                <a:latin typeface="Heebo Light" pitchFamily="34" charset="0"/>
                <a:ea typeface="Heebo Light" pitchFamily="34" charset="-122"/>
                <a:cs typeface="Heebo Light" pitchFamily="34" charset="-120"/>
              </a:rPr>
              <a:t>FastAPI, Python, PostgreSQL</a:t>
            </a:r>
            <a:endParaRPr lang="en-US" sz="1700" dirty="0"/>
          </a:p>
        </p:txBody>
      </p:sp>
      <p:sp>
        <p:nvSpPr>
          <p:cNvPr id="17" name="Shape 15"/>
          <p:cNvSpPr/>
          <p:nvPr/>
        </p:nvSpPr>
        <p:spPr>
          <a:xfrm>
            <a:off x="8432589" y="3860800"/>
            <a:ext cx="3047924" cy="1819473"/>
          </a:xfrm>
          <a:prstGeom prst="roundRect">
            <a:avLst>
              <a:gd name="adj" fmla="val 11726"/>
            </a:avLst>
          </a:prstGeom>
          <a:solidFill>
            <a:srgbClr val="18113D"/>
          </a:solidFill>
          <a:ln/>
        </p:spPr>
      </p:sp>
      <p:sp>
        <p:nvSpPr>
          <p:cNvPr id="18" name="Text 16"/>
          <p:cNvSpPr/>
          <p:nvPr/>
        </p:nvSpPr>
        <p:spPr>
          <a:xfrm>
            <a:off x="8635784" y="4072446"/>
            <a:ext cx="2641534" cy="656233"/>
          </a:xfrm>
          <a:prstGeom prst="rect">
            <a:avLst/>
          </a:prstGeom>
          <a:noFill/>
          <a:ln/>
        </p:spPr>
        <p:txBody>
          <a:bodyPr wrap="square" lIns="0" tIns="0" rIns="0" bIns="0" rtlCol="0" anchor="t">
            <a:normAutofit/>
          </a:bodyPr>
          <a:lstStyle/>
          <a:p>
            <a:pPr algn="l" indent="0" marL="0">
              <a:lnSpc>
                <a:spcPct val="113000"/>
              </a:lnSpc>
              <a:buNone/>
            </a:pPr>
            <a:r>
              <a:rPr lang="en-US" sz="1900" spc="-47" kern="100" dirty="0">
                <a:solidFill>
                  <a:srgbClr val="DCD7E5"/>
                </a:solidFill>
                <a:latin typeface="Montserrat Medium" pitchFamily="34" charset="0"/>
                <a:ea typeface="Montserrat Medium" pitchFamily="34" charset="-122"/>
                <a:cs typeface="Montserrat Medium" pitchFamily="34" charset="-120"/>
              </a:rPr>
              <a:t>Ananya, UI/UX Designer</a:t>
            </a:r>
            <a:endParaRPr lang="en-US" sz="1900" dirty="0"/>
          </a:p>
        </p:txBody>
      </p:sp>
      <p:sp>
        <p:nvSpPr>
          <p:cNvPr id="19" name="Text 17"/>
          <p:cNvSpPr/>
          <p:nvPr/>
        </p:nvSpPr>
        <p:spPr>
          <a:xfrm>
            <a:off x="8635784" y="4872633"/>
            <a:ext cx="2641534" cy="604441"/>
          </a:xfrm>
          <a:prstGeom prst="rect">
            <a:avLst/>
          </a:prstGeom>
          <a:noFill/>
          <a:ln/>
        </p:spPr>
        <p:txBody>
          <a:bodyPr wrap="square" lIns="0" tIns="0" rIns="0" bIns="0" rtlCol="0" anchor="t">
            <a:normAutofit/>
          </a:bodyPr>
          <a:lstStyle/>
          <a:p>
            <a:pPr algn="l" indent="0" marL="0">
              <a:lnSpc>
                <a:spcPct val="117000"/>
              </a:lnSpc>
              <a:buNone/>
            </a:pPr>
            <a:r>
              <a:rPr lang="en-US" sz="1700" dirty="0">
                <a:solidFill>
                  <a:srgbClr val="DCD7E5"/>
                </a:solidFill>
                <a:latin typeface="Heebo Light" pitchFamily="34" charset="0"/>
                <a:ea typeface="Heebo Light" pitchFamily="34" charset="-122"/>
                <a:cs typeface="Heebo Light" pitchFamily="34" charset="-120"/>
              </a:rPr>
              <a:t>Figma, UI/UX Design, Prototyping</a:t>
            </a:r>
            <a:endParaRPr lang="en-US" sz="1700" dirty="0"/>
          </a:p>
        </p:txBody>
      </p:sp>
      <p:sp>
        <p:nvSpPr>
          <p:cNvPr id="20" name="Shape 18"/>
          <p:cNvSpPr/>
          <p:nvPr/>
        </p:nvSpPr>
        <p:spPr>
          <a:xfrm>
            <a:off x="4140096" y="2387600"/>
            <a:ext cx="3911502" cy="2740720"/>
          </a:xfrm>
          <a:prstGeom prst="roundRect">
            <a:avLst>
              <a:gd name="adj" fmla="val 7785"/>
            </a:avLst>
          </a:prstGeom>
          <a:solidFill>
            <a:srgbClr val="18113D"/>
          </a:solidFill>
          <a:ln w="12700">
            <a:solidFill>
              <a:srgbClr val="6157FF"/>
            </a:solidFill>
            <a:prstDash val="solid"/>
          </a:ln>
        </p:spPr>
      </p:sp>
      <p:sp>
        <p:nvSpPr>
          <p:cNvPr id="21" name="Text 19"/>
          <p:cNvSpPr/>
          <p:nvPr/>
        </p:nvSpPr>
        <p:spPr>
          <a:xfrm>
            <a:off x="4432189" y="2681605"/>
            <a:ext cx="3936902" cy="182860"/>
          </a:xfrm>
          <a:prstGeom prst="rect">
            <a:avLst/>
          </a:prstGeom>
          <a:noFill/>
          <a:ln/>
        </p:spPr>
        <p:txBody>
          <a:bodyPr wrap="none" lIns="0" tIns="0" rIns="0" bIns="0" rtlCol="0" anchor="t"/>
          <a:lstStyle/>
          <a:p>
            <a:pPr algn="l" indent="0" marL="0">
              <a:lnSpc>
                <a:spcPct val="100000"/>
              </a:lnSpc>
              <a:buNone/>
            </a:pPr>
            <a:r>
              <a:rPr lang="en-US" sz="1200" spc="96" kern="100" dirty="0">
                <a:solidFill>
                  <a:srgbClr val="B6ACCB"/>
                </a:solidFill>
                <a:latin typeface="Heebo Medium" pitchFamily="34" charset="0"/>
                <a:ea typeface="Heebo Medium" pitchFamily="34" charset="-122"/>
                <a:cs typeface="Heebo Medium" pitchFamily="34" charset="-120"/>
              </a:rPr>
              <a:t>PROJECT</a:t>
            </a:r>
            <a:endParaRPr lang="en-US" sz="1200" dirty="0"/>
          </a:p>
        </p:txBody>
      </p:sp>
      <p:sp>
        <p:nvSpPr>
          <p:cNvPr id="22" name="Text 20"/>
          <p:cNvSpPr/>
          <p:nvPr/>
        </p:nvSpPr>
        <p:spPr>
          <a:xfrm>
            <a:off x="4432189" y="2954191"/>
            <a:ext cx="3327317" cy="828873"/>
          </a:xfrm>
          <a:prstGeom prst="rect">
            <a:avLst/>
          </a:prstGeom>
          <a:noFill/>
          <a:ln/>
        </p:spPr>
        <p:txBody>
          <a:bodyPr wrap="square" lIns="0" tIns="0" rIns="0" bIns="0" rtlCol="0" anchor="t">
            <a:normAutofit/>
          </a:bodyPr>
          <a:lstStyle/>
          <a:p>
            <a:pPr algn="l" indent="0" marL="0">
              <a:lnSpc>
                <a:spcPct val="113000"/>
              </a:lnSpc>
              <a:buNone/>
            </a:pPr>
            <a:r>
              <a:rPr lang="en-US" sz="2400" spc="-60" kern="100" dirty="0">
                <a:solidFill>
                  <a:srgbClr val="DCD7E5"/>
                </a:solidFill>
                <a:latin typeface="Montserrat Medium" pitchFamily="34" charset="0"/>
                <a:ea typeface="Montserrat Medium" pitchFamily="34" charset="-122"/>
                <a:cs typeface="Montserrat Medium" pitchFamily="34" charset="-120"/>
              </a:rPr>
              <a:t>Smart Agriculture Assistant</a:t>
            </a:r>
            <a:endParaRPr lang="en-US" sz="2400" dirty="0"/>
          </a:p>
        </p:txBody>
      </p:sp>
      <p:sp>
        <p:nvSpPr>
          <p:cNvPr id="23" name="Text 21"/>
          <p:cNvSpPr/>
          <p:nvPr/>
        </p:nvSpPr>
        <p:spPr>
          <a:xfrm>
            <a:off x="4432189" y="3929559"/>
            <a:ext cx="3327317" cy="906661"/>
          </a:xfrm>
          <a:prstGeom prst="rect">
            <a:avLst/>
          </a:prstGeom>
          <a:noFill/>
          <a:ln/>
        </p:spPr>
        <p:txBody>
          <a:bodyPr wrap="square" lIns="0" tIns="0" rIns="0" bIns="0" rtlCol="0" anchor="t">
            <a:normAutofit/>
          </a:bodyPr>
          <a:lstStyle/>
          <a:p>
            <a:pPr algn="l" indent="0" marL="0">
              <a:lnSpc>
                <a:spcPct val="117000"/>
              </a:lnSpc>
              <a:buNone/>
            </a:pPr>
            <a:r>
              <a:rPr lang="en-US" sz="1700" dirty="0">
                <a:solidFill>
                  <a:srgbClr val="DCD7E5"/>
                </a:solidFill>
                <a:latin typeface="Heebo Light" pitchFamily="34" charset="0"/>
                <a:ea typeface="Heebo Light" pitchFamily="34" charset="-122"/>
                <a:cs typeface="Heebo Light" pitchFamily="34" charset="-120"/>
              </a:rPr>
              <a:t>A mobile app that helps farmers identify crop diseases and access agricultural recommendations.</a:t>
            </a:r>
            <a:endParaRPr lang="en-US" sz="1700" dirty="0"/>
          </a:p>
        </p:txBody>
      </p:sp>
      <p:sp>
        <p:nvSpPr>
          <p:cNvPr id="24" name="Text 22"/>
          <p:cNvSpPr/>
          <p:nvPr/>
        </p:nvSpPr>
        <p:spPr>
          <a:xfrm>
            <a:off x="288422" y="5887740"/>
            <a:ext cx="9005365" cy="723900"/>
          </a:xfrm>
          <a:prstGeom prst="rect">
            <a:avLst/>
          </a:prstGeom>
          <a:noFill/>
          <a:ln/>
        </p:spPr>
        <p:txBody>
          <a:bodyPr wrap="square" lIns="0" tIns="0" rIns="0" bIns="0" rtlCol="0" anchor="t"/>
          <a:lstStyle/>
          <a:p>
            <a:pPr algn="l" indent="0" marL="0">
              <a:lnSpc>
                <a:spcPct val="117000"/>
              </a:lnSpc>
              <a:spcAft>
                <a:spcPts val="1450"/>
              </a:spcAft>
              <a:buNone/>
            </a:pPr>
            <a:r>
              <a:rPr lang="en-US" sz="1500" dirty="0">
                <a:solidFill>
                  <a:srgbClr val="8EDBB6"/>
                </a:solidFill>
                <a:latin typeface="Heebo Light" pitchFamily="34" charset="0"/>
                <a:ea typeface="Heebo Light" pitchFamily="34" charset="-122"/>
                <a:cs typeface="Heebo Light" pitchFamily="34" charset="-120"/>
              </a:rPr>
              <a:t>Skills covered: ML ✓ Mobile ✓ Backend ✓ UI/UX ✓</a:t>
            </a:r>
            <a:endParaRPr lang="en-US" sz="1500" dirty="0"/>
          </a:p>
          <a:p>
            <a:pPr algn="l" indent="0" marL="0">
              <a:lnSpc>
                <a:spcPct val="117000"/>
              </a:lnSpc>
              <a:buNone/>
            </a:pPr>
            <a:r>
              <a:rPr lang="en-US" sz="1500" dirty="0">
                <a:solidFill>
                  <a:srgbClr val="DCD7E5"/>
                </a:solidFill>
                <a:latin typeface="Heebo Light" pitchFamily="34" charset="0"/>
                <a:ea typeface="Heebo Light" pitchFamily="34" charset="-122"/>
                <a:cs typeface="Heebo Light" pitchFamily="34" charset="-120"/>
              </a:rPr>
              <a:t>Potential gap: Agricultural domain expertise</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711182" y="336741"/>
            <a:ext cx="10769331" cy="457696"/>
          </a:xfrm>
          <a:prstGeom prst="rect">
            <a:avLst/>
          </a:prstGeom>
          <a:noFill/>
          <a:ln/>
        </p:spPr>
        <p:txBody>
          <a:bodyPr wrap="none" lIns="0" tIns="0" rIns="0" bIns="0" rtlCol="0" anchor="t"/>
          <a:lstStyle/>
          <a:p>
            <a:pPr algn="l" indent="0" marL="0">
              <a:lnSpc>
                <a:spcPct val="88000"/>
              </a:lnSpc>
              <a:buNone/>
            </a:pPr>
            <a:r>
              <a:rPr lang="en-US" sz="3400" spc="-85" kern="100" dirty="0">
                <a:solidFill>
                  <a:srgbClr val="F2F0F4"/>
                </a:solidFill>
                <a:latin typeface="Montserrat SemiBold" pitchFamily="34" charset="0"/>
                <a:ea typeface="Montserrat SemiBold" pitchFamily="34" charset="-122"/>
                <a:cs typeface="Montserrat SemiBold" pitchFamily="34" charset="-120"/>
              </a:rPr>
              <a:t>Built for campus collaboration. Designed to grow.</a:t>
            </a:r>
            <a:endParaRPr lang="en-US" sz="3400" dirty="0"/>
          </a:p>
        </p:txBody>
      </p:sp>
      <p:sp>
        <p:nvSpPr>
          <p:cNvPr id="3" name="Shape 1"/>
          <p:cNvSpPr/>
          <p:nvPr/>
        </p:nvSpPr>
        <p:spPr>
          <a:xfrm>
            <a:off x="711182" y="975221"/>
            <a:ext cx="3386549" cy="3845024"/>
          </a:xfrm>
          <a:prstGeom prst="roundRect">
            <a:avLst>
              <a:gd name="adj" fmla="val 6300"/>
            </a:avLst>
          </a:prstGeom>
          <a:solidFill>
            <a:srgbClr val="18113D"/>
          </a:solidFill>
          <a:ln w="12700">
            <a:solidFill>
              <a:srgbClr val="F2F0F4">
                <a:alpha val="14000"/>
              </a:srgbClr>
            </a:solidFill>
            <a:prstDash val="solid"/>
          </a:ln>
          <a:effectLst>
            <a:outerShdw sx="100000" sy="100000" kx="0" ky="0" algn="bl" rotWithShape="0" blurRad="127" dist="11430" dir="5400000">
              <a:srgbClr val="f2f0f4">
                <a:alpha val="10000"/>
              </a:srgbClr>
            </a:outerShdw>
          </a:effectLst>
        </p:spPr>
      </p:sp>
      <p:sp>
        <p:nvSpPr>
          <p:cNvPr id="4" name="Text 2"/>
          <p:cNvSpPr/>
          <p:nvPr/>
        </p:nvSpPr>
        <p:spPr>
          <a:xfrm>
            <a:off x="952476" y="1224967"/>
            <a:ext cx="2903961" cy="328116"/>
          </a:xfrm>
          <a:prstGeom prst="rect">
            <a:avLst/>
          </a:prstGeom>
          <a:noFill/>
          <a:ln/>
        </p:spPr>
        <p:txBody>
          <a:bodyPr wrap="none" lIns="0" tIns="0" rIns="0" bIns="0" rtlCol="0" anchor="t"/>
          <a:lstStyle/>
          <a:p>
            <a:pPr algn="l" indent="0" marL="0">
              <a:lnSpc>
                <a:spcPct val="113000"/>
              </a:lnSpc>
              <a:buNone/>
            </a:pPr>
            <a:r>
              <a:rPr lang="en-US" sz="1900" spc="-47" kern="100" dirty="0">
                <a:solidFill>
                  <a:srgbClr val="DCD7E5"/>
                </a:solidFill>
                <a:latin typeface="Montserrat Medium" pitchFamily="34" charset="0"/>
                <a:ea typeface="Montserrat Medium" pitchFamily="34" charset="-122"/>
                <a:cs typeface="Montserrat Medium" pitchFamily="34" charset="-120"/>
              </a:rPr>
              <a:t>Technology</a:t>
            </a:r>
            <a:endParaRPr lang="en-US" sz="1900" dirty="0"/>
          </a:p>
        </p:txBody>
      </p:sp>
      <p:sp>
        <p:nvSpPr>
          <p:cNvPr id="5" name="Text 3"/>
          <p:cNvSpPr/>
          <p:nvPr/>
        </p:nvSpPr>
        <p:spPr>
          <a:xfrm>
            <a:off x="952476" y="1697038"/>
            <a:ext cx="2903961" cy="2881908"/>
          </a:xfrm>
          <a:prstGeom prst="rect">
            <a:avLst/>
          </a:prstGeom>
          <a:noFill/>
          <a:ln/>
        </p:spPr>
        <p:txBody>
          <a:bodyPr wrap="square" lIns="0" tIns="0" rIns="0" bIns="0" rtlCol="0" anchor="t">
            <a:normAutofit/>
          </a:bodyPr>
          <a:lstStyle/>
          <a:p>
            <a:pPr algn="l" marL="345440" indent="-345440">
              <a:lnSpc>
                <a:spcPct val="117000"/>
              </a:lnSpc>
              <a:buSzPct val="100000"/>
              <a:buChar char="•"/>
            </a:pPr>
            <a:r>
              <a:rPr lang="en-US" sz="1700" dirty="0">
                <a:solidFill>
                  <a:srgbClr val="DCD7E5"/>
                </a:solidFill>
                <a:latin typeface="Heebo Light" pitchFamily="34" charset="0"/>
                <a:ea typeface="Heebo Light" pitchFamily="34" charset="-122"/>
                <a:cs typeface="Heebo Light" pitchFamily="34" charset="-120"/>
              </a:rPr>
              <a:t>Gemma 4: AI-assisted recommendations</a:t>
            </a:r>
            <a:endParaRPr lang="en-US" sz="1700" dirty="0"/>
          </a:p>
          <a:p>
            <a:pPr algn="l" marL="345440" indent="-345440">
              <a:lnSpc>
                <a:spcPct val="117000"/>
              </a:lnSpc>
              <a:buSzPct val="100000"/>
              <a:buChar char="•"/>
            </a:pPr>
            <a:r>
              <a:rPr lang="en-US" sz="1700" dirty="0">
                <a:solidFill>
                  <a:srgbClr val="DCD7E5"/>
                </a:solidFill>
                <a:latin typeface="Heebo Light" pitchFamily="34" charset="0"/>
                <a:ea typeface="Heebo Light" pitchFamily="34" charset="-122"/>
                <a:cs typeface="Heebo Light" pitchFamily="34" charset="-120"/>
              </a:rPr>
              <a:t>Python: matching logic, if implemented</a:t>
            </a:r>
            <a:endParaRPr lang="en-US" sz="1700" dirty="0"/>
          </a:p>
          <a:p>
            <a:pPr algn="l" marL="345440" indent="-345440">
              <a:lnSpc>
                <a:spcPct val="117000"/>
              </a:lnSpc>
              <a:buSzPct val="100000"/>
              <a:buChar char="•"/>
            </a:pPr>
            <a:r>
              <a:rPr lang="en-US" sz="1700" dirty="0">
                <a:solidFill>
                  <a:srgbClr val="DCD7E5"/>
                </a:solidFill>
                <a:latin typeface="Heebo Light" pitchFamily="34" charset="0"/>
                <a:ea typeface="Heebo Light" pitchFamily="34" charset="-122"/>
                <a:cs typeface="Heebo Light" pitchFamily="34" charset="-120"/>
              </a:rPr>
              <a:t>Application framework: [INSERT ACTUAL FRAMEWORK]</a:t>
            </a:r>
            <a:endParaRPr lang="en-US" sz="1700" dirty="0"/>
          </a:p>
          <a:p>
            <a:pPr algn="l" marL="345440" indent="-345440">
              <a:lnSpc>
                <a:spcPct val="117000"/>
              </a:lnSpc>
              <a:buSzPct val="100000"/>
              <a:buChar char="•"/>
            </a:pPr>
            <a:r>
              <a:rPr lang="en-US" sz="1700" dirty="0">
                <a:solidFill>
                  <a:srgbClr val="DCD7E5"/>
                </a:solidFill>
                <a:latin typeface="Heebo Light" pitchFamily="34" charset="0"/>
                <a:ea typeface="Heebo Light" pitchFamily="34" charset="-122"/>
                <a:cs typeface="Heebo Light" pitchFamily="34" charset="-120"/>
              </a:rPr>
              <a:t>GitHub: open-source development</a:t>
            </a:r>
            <a:endParaRPr lang="en-US" sz="1700" dirty="0"/>
          </a:p>
        </p:txBody>
      </p:sp>
      <p:sp>
        <p:nvSpPr>
          <p:cNvPr id="6" name="Shape 4"/>
          <p:cNvSpPr/>
          <p:nvPr/>
        </p:nvSpPr>
        <p:spPr>
          <a:xfrm>
            <a:off x="4402523" y="975221"/>
            <a:ext cx="3386549" cy="3845024"/>
          </a:xfrm>
          <a:prstGeom prst="roundRect">
            <a:avLst>
              <a:gd name="adj" fmla="val 6300"/>
            </a:avLst>
          </a:prstGeom>
          <a:solidFill>
            <a:srgbClr val="18113D"/>
          </a:solidFill>
          <a:ln w="12700">
            <a:solidFill>
              <a:srgbClr val="F2F0F4">
                <a:alpha val="14000"/>
              </a:srgbClr>
            </a:solidFill>
            <a:prstDash val="solid"/>
          </a:ln>
          <a:effectLst>
            <a:outerShdw sx="100000" sy="100000" kx="0" ky="0" algn="bl" rotWithShape="0" blurRad="127" dist="11430" dir="5400000">
              <a:srgbClr val="f2f0f4">
                <a:alpha val="10000"/>
              </a:srgbClr>
            </a:outerShdw>
          </a:effectLst>
        </p:spPr>
      </p:sp>
      <p:sp>
        <p:nvSpPr>
          <p:cNvPr id="7" name="Text 5"/>
          <p:cNvSpPr/>
          <p:nvPr/>
        </p:nvSpPr>
        <p:spPr>
          <a:xfrm>
            <a:off x="4643817" y="1224967"/>
            <a:ext cx="2903961" cy="328116"/>
          </a:xfrm>
          <a:prstGeom prst="rect">
            <a:avLst/>
          </a:prstGeom>
          <a:noFill/>
          <a:ln/>
        </p:spPr>
        <p:txBody>
          <a:bodyPr wrap="none" lIns="0" tIns="0" rIns="0" bIns="0" rtlCol="0" anchor="t"/>
          <a:lstStyle/>
          <a:p>
            <a:pPr algn="l" indent="0" marL="0">
              <a:lnSpc>
                <a:spcPct val="113000"/>
              </a:lnSpc>
              <a:buNone/>
            </a:pPr>
            <a:r>
              <a:rPr lang="en-US" sz="1900" spc="-47" kern="100" dirty="0">
                <a:solidFill>
                  <a:srgbClr val="DCD7E5"/>
                </a:solidFill>
                <a:latin typeface="Montserrat Medium" pitchFamily="34" charset="0"/>
                <a:ea typeface="Montserrat Medium" pitchFamily="34" charset="-122"/>
                <a:cs typeface="Montserrat Medium" pitchFamily="34" charset="-120"/>
              </a:rPr>
              <a:t>Expected impact</a:t>
            </a:r>
            <a:endParaRPr lang="en-US" sz="1900" dirty="0"/>
          </a:p>
        </p:txBody>
      </p:sp>
      <p:sp>
        <p:nvSpPr>
          <p:cNvPr id="8" name="Text 6"/>
          <p:cNvSpPr/>
          <p:nvPr/>
        </p:nvSpPr>
        <p:spPr>
          <a:xfrm>
            <a:off x="4643817" y="1697038"/>
            <a:ext cx="2903961" cy="2881908"/>
          </a:xfrm>
          <a:prstGeom prst="rect">
            <a:avLst/>
          </a:prstGeom>
          <a:noFill/>
          <a:ln/>
        </p:spPr>
        <p:txBody>
          <a:bodyPr wrap="square" lIns="0" tIns="0" rIns="0" bIns="0" rtlCol="0" anchor="t">
            <a:normAutofit/>
          </a:bodyPr>
          <a:lstStyle/>
          <a:p>
            <a:pPr algn="l" marL="345440" indent="-345440">
              <a:lnSpc>
                <a:spcPct val="117000"/>
              </a:lnSpc>
              <a:buSzPct val="100000"/>
              <a:buChar char="•"/>
            </a:pPr>
            <a:r>
              <a:rPr lang="en-US" sz="1700" dirty="0">
                <a:solidFill>
                  <a:srgbClr val="DCD7E5"/>
                </a:solidFill>
                <a:latin typeface="Heebo Light" pitchFamily="34" charset="0"/>
                <a:ea typeface="Heebo Light" pitchFamily="34" charset="-122"/>
                <a:cs typeface="Heebo Light" pitchFamily="34" charset="-120"/>
              </a:rPr>
              <a:t>Make teammate discovery more accessible</a:t>
            </a:r>
            <a:endParaRPr lang="en-US" sz="1700" dirty="0"/>
          </a:p>
          <a:p>
            <a:pPr algn="l" marL="345440" indent="-345440">
              <a:lnSpc>
                <a:spcPct val="117000"/>
              </a:lnSpc>
              <a:buSzPct val="100000"/>
              <a:buChar char="•"/>
            </a:pPr>
            <a:r>
              <a:rPr lang="en-US" sz="1700" dirty="0">
                <a:solidFill>
                  <a:srgbClr val="DCD7E5"/>
                </a:solidFill>
                <a:latin typeface="Heebo Light" pitchFamily="34" charset="0"/>
                <a:ea typeface="Heebo Light" pitchFamily="34" charset="-122"/>
                <a:cs typeface="Heebo Light" pitchFamily="34" charset="-120"/>
              </a:rPr>
              <a:t>Encourage collaboration across classes and departments</a:t>
            </a:r>
            <a:endParaRPr lang="en-US" sz="1700" dirty="0"/>
          </a:p>
          <a:p>
            <a:pPr algn="l" marL="345440" indent="-345440">
              <a:lnSpc>
                <a:spcPct val="117000"/>
              </a:lnSpc>
              <a:buSzPct val="100000"/>
              <a:buChar char="•"/>
            </a:pPr>
            <a:r>
              <a:rPr lang="en-US" sz="1700" dirty="0">
                <a:solidFill>
                  <a:srgbClr val="DCD7E5"/>
                </a:solidFill>
                <a:latin typeface="Heebo Light" pitchFamily="34" charset="0"/>
                <a:ea typeface="Heebo Light" pitchFamily="34" charset="-122"/>
                <a:cs typeface="Heebo Light" pitchFamily="34" charset="-120"/>
              </a:rPr>
              <a:t>Help students identify complementary skills</a:t>
            </a:r>
            <a:endParaRPr lang="en-US" sz="1700" dirty="0"/>
          </a:p>
          <a:p>
            <a:pPr algn="l" marL="345440" indent="-345440">
              <a:lnSpc>
                <a:spcPct val="117000"/>
              </a:lnSpc>
              <a:buSzPct val="100000"/>
              <a:buChar char="•"/>
            </a:pPr>
            <a:r>
              <a:rPr lang="en-US" sz="1700" dirty="0">
                <a:solidFill>
                  <a:srgbClr val="DCD7E5"/>
                </a:solidFill>
                <a:latin typeface="Heebo Light" pitchFamily="34" charset="0"/>
                <a:ea typeface="Heebo Light" pitchFamily="34" charset="-122"/>
                <a:cs typeface="Heebo Light" pitchFamily="34" charset="-120"/>
              </a:rPr>
              <a:t>Reduce reliance on informal networking alone</a:t>
            </a:r>
            <a:endParaRPr lang="en-US" sz="1700" dirty="0"/>
          </a:p>
        </p:txBody>
      </p:sp>
      <p:sp>
        <p:nvSpPr>
          <p:cNvPr id="9" name="Shape 7"/>
          <p:cNvSpPr/>
          <p:nvPr/>
        </p:nvSpPr>
        <p:spPr>
          <a:xfrm>
            <a:off x="8093865" y="975221"/>
            <a:ext cx="3386549" cy="3845024"/>
          </a:xfrm>
          <a:prstGeom prst="roundRect">
            <a:avLst>
              <a:gd name="adj" fmla="val 6300"/>
            </a:avLst>
          </a:prstGeom>
          <a:solidFill>
            <a:srgbClr val="18113D"/>
          </a:solidFill>
          <a:ln w="12700">
            <a:solidFill>
              <a:srgbClr val="F2F0F4">
                <a:alpha val="14000"/>
              </a:srgbClr>
            </a:solidFill>
            <a:prstDash val="solid"/>
          </a:ln>
          <a:effectLst>
            <a:outerShdw sx="100000" sy="100000" kx="0" ky="0" algn="bl" rotWithShape="0" blurRad="127" dist="11430" dir="5400000">
              <a:srgbClr val="f2f0f4">
                <a:alpha val="10000"/>
              </a:srgbClr>
            </a:outerShdw>
          </a:effectLst>
        </p:spPr>
      </p:sp>
      <p:sp>
        <p:nvSpPr>
          <p:cNvPr id="10" name="Text 8"/>
          <p:cNvSpPr/>
          <p:nvPr/>
        </p:nvSpPr>
        <p:spPr>
          <a:xfrm>
            <a:off x="8335159" y="1224967"/>
            <a:ext cx="2903961" cy="328116"/>
          </a:xfrm>
          <a:prstGeom prst="rect">
            <a:avLst/>
          </a:prstGeom>
          <a:noFill/>
          <a:ln/>
        </p:spPr>
        <p:txBody>
          <a:bodyPr wrap="none" lIns="0" tIns="0" rIns="0" bIns="0" rtlCol="0" anchor="t"/>
          <a:lstStyle/>
          <a:p>
            <a:pPr algn="l" indent="0" marL="0">
              <a:lnSpc>
                <a:spcPct val="113000"/>
              </a:lnSpc>
              <a:buNone/>
            </a:pPr>
            <a:r>
              <a:rPr lang="en-US" sz="1900" spc="-47" kern="100" dirty="0">
                <a:solidFill>
                  <a:srgbClr val="DCD7E5"/>
                </a:solidFill>
                <a:latin typeface="Montserrat Medium" pitchFamily="34" charset="0"/>
                <a:ea typeface="Montserrat Medium" pitchFamily="34" charset="-122"/>
                <a:cs typeface="Montserrat Medium" pitchFamily="34" charset="-120"/>
              </a:rPr>
              <a:t>Future scope</a:t>
            </a:r>
            <a:endParaRPr lang="en-US" sz="1900" dirty="0"/>
          </a:p>
        </p:txBody>
      </p:sp>
      <p:sp>
        <p:nvSpPr>
          <p:cNvPr id="11" name="Text 9"/>
          <p:cNvSpPr/>
          <p:nvPr/>
        </p:nvSpPr>
        <p:spPr>
          <a:xfrm>
            <a:off x="8335159" y="1697038"/>
            <a:ext cx="2903961" cy="1673027"/>
          </a:xfrm>
          <a:prstGeom prst="rect">
            <a:avLst/>
          </a:prstGeom>
          <a:noFill/>
          <a:ln/>
        </p:spPr>
        <p:txBody>
          <a:bodyPr wrap="square" lIns="0" tIns="0" rIns="0" bIns="0" rtlCol="0" anchor="t">
            <a:normAutofit/>
          </a:bodyPr>
          <a:lstStyle/>
          <a:p>
            <a:pPr algn="l" marL="345440" indent="-345440">
              <a:lnSpc>
                <a:spcPct val="117000"/>
              </a:lnSpc>
              <a:buSzPct val="100000"/>
              <a:buChar char="•"/>
            </a:pPr>
            <a:r>
              <a:rPr lang="en-US" sz="1700" dirty="0">
                <a:solidFill>
                  <a:srgbClr val="DCD7E5"/>
                </a:solidFill>
                <a:latin typeface="Heebo Light" pitchFamily="34" charset="0"/>
                <a:ea typeface="Heebo Light" pitchFamily="34" charset="-122"/>
                <a:cs typeface="Heebo Light" pitchFamily="34" charset="-120"/>
              </a:rPr>
              <a:t>Collaboration requests</a:t>
            </a:r>
            <a:endParaRPr lang="en-US" sz="1700" dirty="0"/>
          </a:p>
          <a:p>
            <a:pPr algn="l" marL="345440" indent="-345440">
              <a:lnSpc>
                <a:spcPct val="117000"/>
              </a:lnSpc>
              <a:buSzPct val="100000"/>
              <a:buChar char="•"/>
            </a:pPr>
            <a:r>
              <a:rPr lang="en-US" sz="1700" dirty="0">
                <a:solidFill>
                  <a:srgbClr val="DCD7E5"/>
                </a:solidFill>
                <a:latin typeface="Heebo Light" pitchFamily="34" charset="0"/>
                <a:ea typeface="Heebo Light" pitchFamily="34" charset="-122"/>
                <a:cs typeface="Heebo Light" pitchFamily="34" charset="-120"/>
              </a:rPr>
              <a:t>Persistent student profiles</a:t>
            </a:r>
            <a:endParaRPr lang="en-US" sz="1700" dirty="0"/>
          </a:p>
          <a:p>
            <a:pPr algn="l" marL="345440" indent="-345440">
              <a:lnSpc>
                <a:spcPct val="117000"/>
              </a:lnSpc>
              <a:buSzPct val="100000"/>
              <a:buChar char="•"/>
            </a:pPr>
            <a:r>
              <a:rPr lang="en-US" sz="1700" dirty="0">
                <a:solidFill>
                  <a:srgbClr val="DCD7E5"/>
                </a:solidFill>
                <a:latin typeface="Heebo Light" pitchFamily="34" charset="0"/>
                <a:ea typeface="Heebo Light" pitchFamily="34" charset="-122"/>
                <a:cs typeface="Heebo Light" pitchFamily="34" charset="-120"/>
              </a:rPr>
              <a:t>Project progress tracking</a:t>
            </a:r>
            <a:endParaRPr lang="en-US" sz="1700" dirty="0"/>
          </a:p>
          <a:p>
            <a:pPr algn="l" marL="345440" indent="-345440">
              <a:lnSpc>
                <a:spcPct val="117000"/>
              </a:lnSpc>
              <a:buSzPct val="100000"/>
              <a:buChar char="•"/>
            </a:pPr>
            <a:r>
              <a:rPr lang="en-US" sz="1700" dirty="0">
                <a:solidFill>
                  <a:srgbClr val="DCD7E5"/>
                </a:solidFill>
                <a:latin typeface="Heebo Light" pitchFamily="34" charset="0"/>
                <a:ea typeface="Heebo Light" pitchFamily="34" charset="-122"/>
                <a:cs typeface="Heebo Light" pitchFamily="34" charset="-120"/>
              </a:rPr>
              <a:t>Campus-wide project discovery</a:t>
            </a:r>
            <a:endParaRPr lang="en-US" sz="1700" dirty="0"/>
          </a:p>
        </p:txBody>
      </p:sp>
      <p:sp>
        <p:nvSpPr>
          <p:cNvPr id="12" name="Text 10"/>
          <p:cNvSpPr/>
          <p:nvPr/>
        </p:nvSpPr>
        <p:spPr>
          <a:xfrm>
            <a:off x="711182" y="5016651"/>
            <a:ext cx="10769331" cy="414437"/>
          </a:xfrm>
          <a:prstGeom prst="rect">
            <a:avLst/>
          </a:prstGeom>
          <a:noFill/>
          <a:ln/>
        </p:spPr>
        <p:txBody>
          <a:bodyPr wrap="none" lIns="0" tIns="0" rIns="0" bIns="0" rtlCol="0" anchor="t"/>
          <a:lstStyle/>
          <a:p>
            <a:pPr algn="l" indent="0" marL="0">
              <a:lnSpc>
                <a:spcPct val="113000"/>
              </a:lnSpc>
              <a:buNone/>
            </a:pPr>
            <a:r>
              <a:rPr lang="en-US" sz="2400" spc="-60" kern="100" dirty="0">
                <a:solidFill>
                  <a:srgbClr val="DCD7E5"/>
                </a:solidFill>
                <a:latin typeface="Montserrat Medium" pitchFamily="34" charset="0"/>
                <a:ea typeface="Montserrat Medium" pitchFamily="34" charset="-122"/>
                <a:cs typeface="Montserrat Medium" pitchFamily="34" charset="-120"/>
              </a:rPr>
              <a:t>Better connections. Stronger teams. Bigger ideas.</a:t>
            </a:r>
            <a:endParaRPr lang="en-US" sz="2400" dirty="0"/>
          </a:p>
        </p:txBody>
      </p:sp>
      <p:sp>
        <p:nvSpPr>
          <p:cNvPr id="13" name="Text 11"/>
          <p:cNvSpPr/>
          <p:nvPr/>
        </p:nvSpPr>
        <p:spPr>
          <a:xfrm>
            <a:off x="711182" y="5577582"/>
            <a:ext cx="10769331" cy="302220"/>
          </a:xfrm>
          <a:prstGeom prst="rect">
            <a:avLst/>
          </a:prstGeom>
          <a:noFill/>
          <a:ln/>
        </p:spPr>
        <p:txBody>
          <a:bodyPr wrap="none" lIns="0" tIns="0" rIns="0" bIns="0" rtlCol="0" anchor="t"/>
          <a:lstStyle/>
          <a:p>
            <a:pPr algn="l" indent="0" marL="0">
              <a:lnSpc>
                <a:spcPct val="117000"/>
              </a:lnSpc>
              <a:buNone/>
            </a:pPr>
            <a:r>
              <a:rPr lang="en-US" sz="1700" dirty="0">
                <a:solidFill>
                  <a:srgbClr val="DCD7E5"/>
                </a:solidFill>
                <a:latin typeface="Heebo Light" pitchFamily="34" charset="0"/>
                <a:ea typeface="Heebo Light" pitchFamily="34" charset="-122"/>
                <a:cs typeface="Heebo Light" pitchFamily="34" charset="-120"/>
              </a:rPr>
              <a:t>·GitHub: </a:t>
            </a:r>
            <a:pPr algn="l" indent="0" marL="0">
              <a:lnSpc>
                <a:spcPct val="117000"/>
              </a:lnSpc>
              <a:buNone/>
            </a:pPr>
            <a:r>
              <a:rPr lang="en-US" sz="1700" b="1" u="sng" dirty="0">
                <a:solidFill>
                  <a:srgbClr val="9857F9"/>
                </a:solidFill>
                <a:latin typeface="Heebo Bold" pitchFamily="34" charset="0"/>
                <a:ea typeface="Heebo Bold" pitchFamily="34" charset="-122"/>
                <a:cs typeface="Heebo Bold" pitchFamily="34" charset="-120"/>
                <a:hlinkClick r:id="rId1" invalidUrl="" action="" tgtFrame="" tooltip="" history="1" highlightClick="0" endSnd="0">
                  <a:extLst>
                    <a:ext uri="{A12FA001-AC4F-418D-AE19-62706E023703}">
                      <ahyp:hlinkClr xmlns:ahyp="http://schemas.microsoft.com/office/drawing/2018/hyperlinkcolor" val="tx"/>
                    </a:ext>
                  </a:extLst>
                </a:hlinkClick>
              </a:rPr>
              <a:t>[Repository URL]</a:t>
            </a:r>
            <a:endParaRPr lang="en-US" sz="1700" dirty="0"/>
          </a:p>
        </p:txBody>
      </p:sp>
      <p:sp>
        <p:nvSpPr>
          <p:cNvPr id="14" name="Text 12"/>
          <p:cNvSpPr/>
          <p:nvPr/>
        </p:nvSpPr>
        <p:spPr>
          <a:xfrm>
            <a:off x="711182" y="6138862"/>
            <a:ext cx="10769331" cy="302220"/>
          </a:xfrm>
          <a:prstGeom prst="rect">
            <a:avLst/>
          </a:prstGeom>
          <a:noFill/>
          <a:ln/>
        </p:spPr>
        <p:txBody>
          <a:bodyPr wrap="none" lIns="0" tIns="0" rIns="0" bIns="0" rtlCol="0" anchor="t"/>
          <a:lstStyle/>
          <a:p>
            <a:pPr algn="l" indent="0" marL="0">
              <a:lnSpc>
                <a:spcPct val="117000"/>
              </a:lnSpc>
              <a:buNone/>
            </a:pPr>
            <a:r>
              <a:rPr lang="en-US" sz="1700" dirty="0">
                <a:solidFill>
                  <a:srgbClr val="DCD7E5"/>
                </a:solidFill>
                <a:latin typeface="Heebo Light" pitchFamily="34" charset="0"/>
                <a:ea typeface="Heebo Light" pitchFamily="34" charset="-122"/>
                <a:cs typeface="Heebo Light" pitchFamily="34" charset="-120"/>
              </a:rPr>
              <a:t>‣Team: Innov8x</a:t>
            </a:r>
            <a:endParaRPr lang="en-US" sz="1700" dirty="0"/>
          </a:p>
        </p:txBody>
      </p:sp>
      <p:pic>
        <p:nvPicPr>
          <p:cNvPr id="15" name="Image 0" descr="preencoded.png">    </p:cNvPr>
          <p:cNvPicPr>
            <a:picLocks noChangeAspect="1"/>
          </p:cNvPicPr>
          <p:nvPr/>
        </p:nvPicPr>
        <p:blipFill>
          <a:blip r:embed="rId2"/>
          <a:stretch>
            <a:fillRect/>
          </a:stretch>
        </p:blipFill>
        <p:spPr>
          <a:xfrm>
            <a:off x="8995741" y="4992489"/>
            <a:ext cx="1714159" cy="1714202"/>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9857F9"/>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Slide 1</vt:lpstr>
      <vt:lpstr>Slide 2</vt:lpstr>
      <vt:lpstr>Slide 3</vt:lpstr>
      <vt:lpstr>Slide 4</vt:lpstr>
      <vt:lpstr>Slide 5</vt:lpstr>
      <vt:lpstr>Slide 6</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2026-10-10T11:08:14Z</dcterms:created>
  <dcterms:modified xsi:type="dcterms:W3CDTF">2026-10-10T11:08:14Z</dcterms:modified>
</cp:coreProperties>
</file>